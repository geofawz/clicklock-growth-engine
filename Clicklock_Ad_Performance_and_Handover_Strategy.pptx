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pic>
        <p:nvPicPr>
          <p:cNvPr id="2" name="Picture 1" descr="clicklock_square_logo.png"/>
          <p:cNvPicPr>
            <a:picLocks noChangeAspect="1"/>
          </p:cNvPicPr>
          <p:nvPr/>
        </p:nvPicPr>
        <p:blipFill>
          <a:blip r:embed="rId2"/>
          <a:stretch>
            <a:fillRect/>
          </a:stretch>
        </p:blipFill>
        <p:spPr>
          <a:xfrm>
            <a:off x="6217920" y="1097280"/>
            <a:ext cx="1645920" cy="1645920"/>
          </a:xfrm>
          <a:prstGeom prst="rect">
            <a:avLst/>
          </a:prstGeom>
        </p:spPr>
      </p:pic>
      <p:pic>
        <p:nvPicPr>
          <p:cNvPr id="3" name="Picture 2" descr="atoz_agency_logo.png"/>
          <p:cNvPicPr>
            <a:picLocks noChangeAspect="1"/>
          </p:cNvPicPr>
          <p:nvPr/>
        </p:nvPicPr>
        <p:blipFill>
          <a:blip r:embed="rId3"/>
          <a:stretch>
            <a:fillRect/>
          </a:stretch>
        </p:blipFill>
        <p:spPr>
          <a:xfrm>
            <a:off x="4297680" y="1097280"/>
            <a:ext cx="1645920" cy="1645920"/>
          </a:xfrm>
          <a:prstGeom prst="rect">
            <a:avLst/>
          </a:prstGeom>
        </p:spPr>
      </p:pic>
      <p:sp>
        <p:nvSpPr>
          <p:cNvPr id="4" name="Rounded Rectangle 3"/>
          <p:cNvSpPr/>
          <p:nvPr/>
        </p:nvSpPr>
        <p:spPr>
          <a:xfrm>
            <a:off x="1371600" y="2926080"/>
            <a:ext cx="9448495" cy="3200400"/>
          </a:xfrm>
          <a:prstGeom prst="roundRect">
            <a:avLst/>
          </a:prstGeom>
          <a:solidFill>
            <a:srgbClr val="FFFFF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3154680"/>
            <a:ext cx="8899855" cy="2743200"/>
          </a:xfrm>
          <a:prstGeom prst="rect">
            <a:avLst/>
          </a:prstGeom>
          <a:noFill/>
        </p:spPr>
        <p:txBody>
          <a:bodyPr wrap="square">
            <a:spAutoFit/>
          </a:bodyPr>
          <a:lstStyle/>
          <a:p>
            <a:pPr algn="ctr">
              <a:defRPr sz="2800" b="1">
                <a:solidFill>
                  <a:srgbClr val="0F172A"/>
                </a:solidFill>
                <a:latin typeface="Arial"/>
              </a:defRPr>
            </a:pPr>
            <a:r>
              <a:t>تقرير أداء الحملات الإعلانية واستراتيجية الخروج والتسليم</a:t>
            </a:r>
          </a:p>
          <a:p>
            <a:pPr algn="ctr">
              <a:spcBef>
                <a:spcPts val="800"/>
              </a:spcBef>
              <a:defRPr sz="1400" b="1">
                <a:solidFill>
                  <a:srgbClr val="B8860B"/>
                </a:solidFill>
                <a:latin typeface="Arial"/>
              </a:defRPr>
            </a:pPr>
            <a:r>
              <a:t>Ad Performance Report &amp; Turnkey Handover Strategy (SOPs)</a:t>
            </a:r>
          </a:p>
          <a:p>
            <a:pPr algn="ctr">
              <a:spcBef>
                <a:spcPts val="1600"/>
              </a:spcBef>
              <a:defRPr sz="1300">
                <a:solidFill>
                  <a:srgbClr val="64748B"/>
                </a:solidFill>
                <a:latin typeface="Arial"/>
              </a:defRPr>
            </a:pPr>
            <a:r>
              <a:t>الدليل التشغيلي الاستراتيجي لتسليم متجر Clicklock.sa وحزمة الـ Brand Brain الكاملة</a:t>
            </a:r>
            <a:br/>
            <a:r>
              <a:t>إعداد: وكالة A to Z Advertising Agency • حملات سبتمبر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 الملخص التنفيذي ومؤشرات الأداء الكلية (Executive Dashboard)</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463040"/>
            <a:ext cx="256032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2286000" cy="1371600"/>
          </a:xfrm>
          <a:prstGeom prst="rect">
            <a:avLst/>
          </a:prstGeom>
          <a:noFill/>
        </p:spPr>
        <p:txBody>
          <a:bodyPr wrap="square">
            <a:spAutoFit/>
          </a:bodyPr>
          <a:lstStyle/>
          <a:p>
            <a:pPr algn="r">
              <a:defRPr sz="1100">
                <a:solidFill>
                  <a:srgbClr val="64748B"/>
                </a:solidFill>
                <a:latin typeface="Arial"/>
              </a:defRPr>
            </a:pPr>
            <a:r>
              <a:t>إجمالي الإنفاق الإعلاني</a:t>
            </a:r>
          </a:p>
          <a:p>
            <a:pPr algn="r">
              <a:spcBef>
                <a:spcPts val="400"/>
              </a:spcBef>
              <a:defRPr sz="2200" b="1">
                <a:solidFill>
                  <a:srgbClr val="B8860B"/>
                </a:solidFill>
                <a:latin typeface="Arial"/>
              </a:defRPr>
            </a:pPr>
            <a:r>
              <a:t>3,294.60 ر.س</a:t>
            </a:r>
          </a:p>
          <a:p>
            <a:pPr algn="r">
              <a:spcBef>
                <a:spcPts val="400"/>
              </a:spcBef>
              <a:defRPr sz="950">
                <a:solidFill>
                  <a:srgbClr val="64748B"/>
                </a:solidFill>
                <a:latin typeface="Arial"/>
              </a:defRPr>
            </a:pPr>
            <a:r>
              <a:t>تيك توك: 2,109 ر.س | سناب: 1,185 ر.س</a:t>
            </a:r>
          </a:p>
        </p:txBody>
      </p:sp>
      <p:sp>
        <p:nvSpPr>
          <p:cNvPr id="7" name="Rounded Rectangle 6"/>
          <p:cNvSpPr/>
          <p:nvPr/>
        </p:nvSpPr>
        <p:spPr>
          <a:xfrm>
            <a:off x="3456432" y="1463040"/>
            <a:ext cx="256032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00200"/>
            <a:ext cx="2286000" cy="1371600"/>
          </a:xfrm>
          <a:prstGeom prst="rect">
            <a:avLst/>
          </a:prstGeom>
          <a:noFill/>
        </p:spPr>
        <p:txBody>
          <a:bodyPr wrap="square">
            <a:spAutoFit/>
          </a:bodyPr>
          <a:lstStyle/>
          <a:p>
            <a:pPr algn="r">
              <a:defRPr sz="1100">
                <a:solidFill>
                  <a:srgbClr val="64748B"/>
                </a:solidFill>
                <a:latin typeface="Arial"/>
              </a:defRPr>
            </a:pPr>
            <a:r>
              <a:t>زيارات صفحات المتجر</a:t>
            </a:r>
          </a:p>
          <a:p>
            <a:pPr algn="r">
              <a:spcBef>
                <a:spcPts val="400"/>
              </a:spcBef>
              <a:defRPr sz="2200" b="1">
                <a:solidFill>
                  <a:srgbClr val="0284C7"/>
                </a:solidFill>
                <a:latin typeface="Arial"/>
              </a:defRPr>
            </a:pPr>
            <a:r>
              <a:t>6,235 زيارة</a:t>
            </a:r>
          </a:p>
          <a:p>
            <a:pPr algn="r">
              <a:spcBef>
                <a:spcPts val="400"/>
              </a:spcBef>
              <a:defRPr sz="950">
                <a:solidFill>
                  <a:srgbClr val="64748B"/>
                </a:solidFill>
                <a:latin typeface="Arial"/>
              </a:defRPr>
            </a:pPr>
            <a:r>
              <a:t>اهتمام عالي (6,621 تصفح منتجات)</a:t>
            </a:r>
          </a:p>
        </p:txBody>
      </p:sp>
      <p:sp>
        <p:nvSpPr>
          <p:cNvPr id="9" name="Rounded Rectangle 8"/>
          <p:cNvSpPr/>
          <p:nvPr/>
        </p:nvSpPr>
        <p:spPr>
          <a:xfrm>
            <a:off x="6181344" y="1463040"/>
            <a:ext cx="256032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600200"/>
            <a:ext cx="2286000" cy="1371600"/>
          </a:xfrm>
          <a:prstGeom prst="rect">
            <a:avLst/>
          </a:prstGeom>
          <a:noFill/>
        </p:spPr>
        <p:txBody>
          <a:bodyPr wrap="square">
            <a:spAutoFit/>
          </a:bodyPr>
          <a:lstStyle/>
          <a:p>
            <a:pPr algn="r">
              <a:defRPr sz="1100">
                <a:solidFill>
                  <a:srgbClr val="64748B"/>
                </a:solidFill>
                <a:latin typeface="Arial"/>
              </a:defRPr>
            </a:pPr>
            <a:r>
              <a:t>تكلفة النقرة بسناب شات</a:t>
            </a:r>
          </a:p>
          <a:p>
            <a:pPr algn="r">
              <a:spcBef>
                <a:spcPts val="400"/>
              </a:spcBef>
              <a:defRPr sz="2200" b="1">
                <a:solidFill>
                  <a:srgbClr val="10B981"/>
                </a:solidFill>
                <a:latin typeface="Arial"/>
              </a:defRPr>
            </a:pPr>
            <a:r>
              <a:t>0.39 ر.س</a:t>
            </a:r>
          </a:p>
          <a:p>
            <a:pPr algn="r">
              <a:spcBef>
                <a:spcPts val="400"/>
              </a:spcBef>
              <a:defRPr sz="950">
                <a:solidFill>
                  <a:srgbClr val="64748B"/>
                </a:solidFill>
                <a:latin typeface="Arial"/>
              </a:defRPr>
            </a:pPr>
            <a:r>
              <a:t>39 هللة فقط (3,067 سحبة شاشة)</a:t>
            </a:r>
          </a:p>
        </p:txBody>
      </p:sp>
      <p:sp>
        <p:nvSpPr>
          <p:cNvPr id="11" name="Rounded Rectangle 10"/>
          <p:cNvSpPr/>
          <p:nvPr/>
        </p:nvSpPr>
        <p:spPr>
          <a:xfrm>
            <a:off x="8906256" y="1463040"/>
            <a:ext cx="256032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600200"/>
            <a:ext cx="2286000" cy="1371600"/>
          </a:xfrm>
          <a:prstGeom prst="rect">
            <a:avLst/>
          </a:prstGeom>
          <a:noFill/>
        </p:spPr>
        <p:txBody>
          <a:bodyPr wrap="square">
            <a:spAutoFit/>
          </a:bodyPr>
          <a:lstStyle/>
          <a:p>
            <a:pPr algn="r">
              <a:defRPr sz="1100">
                <a:solidFill>
                  <a:srgbClr val="64748B"/>
                </a:solidFill>
                <a:latin typeface="Arial"/>
              </a:defRPr>
            </a:pPr>
            <a:r>
              <a:t>السلات وبدء الدفع</a:t>
            </a:r>
          </a:p>
          <a:p>
            <a:pPr algn="r">
              <a:spcBef>
                <a:spcPts val="400"/>
              </a:spcBef>
              <a:defRPr sz="2200" b="1">
                <a:solidFill>
                  <a:srgbClr val="0F172A"/>
                </a:solidFill>
                <a:latin typeface="Arial"/>
              </a:defRPr>
            </a:pPr>
            <a:r>
              <a:t>49 ATC / 46 Co</a:t>
            </a:r>
          </a:p>
          <a:p>
            <a:pPr algn="r">
              <a:spcBef>
                <a:spcPts val="400"/>
              </a:spcBef>
              <a:defRPr sz="950">
                <a:solidFill>
                  <a:srgbClr val="64748B"/>
                </a:solidFill>
                <a:latin typeface="Arial"/>
              </a:defRPr>
            </a:pPr>
            <a:r>
              <a:t>46 محاولة دفع (71.62 ر.س للعملية)</a:t>
            </a:r>
          </a:p>
        </p:txBody>
      </p:sp>
      <p:sp>
        <p:nvSpPr>
          <p:cNvPr id="13" name="Rounded Rectangle 12"/>
          <p:cNvSpPr/>
          <p:nvPr/>
        </p:nvSpPr>
        <p:spPr>
          <a:xfrm>
            <a:off x="731520" y="3383280"/>
            <a:ext cx="10728655" cy="2926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66160"/>
            <a:ext cx="10180015" cy="2560320"/>
          </a:xfrm>
          <a:prstGeom prst="rect">
            <a:avLst/>
          </a:prstGeom>
          <a:noFill/>
        </p:spPr>
        <p:txBody>
          <a:bodyPr wrap="square">
            <a:spAutoFit/>
          </a:bodyPr>
          <a:lstStyle/>
          <a:p>
            <a:pPr algn="r">
              <a:defRPr sz="1600" b="1">
                <a:solidFill>
                  <a:srgbClr val="0F172A"/>
                </a:solidFill>
                <a:latin typeface="Arial"/>
              </a:defRPr>
            </a:pPr>
            <a:r>
              <a:t>الزبدة والخلاصة التنفيذية:</a:t>
            </a:r>
          </a:p>
          <a:p>
            <a:pPr algn="r">
              <a:spcBef>
                <a:spcPts val="600"/>
              </a:spcBef>
              <a:defRPr sz="1150">
                <a:solidFill>
                  <a:srgbClr val="1E293B"/>
                </a:solidFill>
                <a:latin typeface="Arial"/>
              </a:defRPr>
            </a:pPr>
            <a:r>
              <a:t>• نجاح كاسح للإعلانات في استقطاب حركة المرور: حققت الحملات وصولاً واسعاً تجاوز 180 ألف ظهور، وأدخلت أكثر من 6,200 زائر نوعي بتكاليف نقرة متدنية جداً (39 هللة بسناب).</a:t>
            </a:r>
          </a:p>
          <a:p>
            <a:pPr algn="r">
              <a:spcBef>
                <a:spcPts val="600"/>
              </a:spcBef>
              <a:defRPr sz="1150">
                <a:solidFill>
                  <a:srgbClr val="1E293B"/>
                </a:solidFill>
                <a:latin typeface="Arial"/>
              </a:defRPr>
            </a:pPr>
            <a:r>
              <a:t>• وصول 46 عميلة لخطوة الدفع (Initiated Checkouts): أثبتت الأرقام رغبة حقيقية في الشراء، ووصلت 46 عميلة لصفحة الدفع النهائية بتكلفة تنافسية بلغت 71.62 ريال للعملية.</a:t>
            </a:r>
          </a:p>
          <a:p>
            <a:pPr algn="r">
              <a:spcBef>
                <a:spcPts val="600"/>
              </a:spcBef>
              <a:defRPr sz="1150">
                <a:solidFill>
                  <a:srgbClr val="1E293B"/>
                </a:solidFill>
                <a:latin typeface="Arial"/>
              </a:defRPr>
            </a:pPr>
            <a:r>
              <a:t>• نقطة الاختناق الحرجة (0 Purchases): توقفت العمليات تماماً عند صفحة الدفع (تسرب 100%)؛ مما يثبت أن الخلل ليس في الإعلانات، بل في حاجز مقاومة نفسي وسعري وغياب الثقة داخل المتجر.</a:t>
            </a:r>
          </a:p>
          <a:p>
            <a:pPr algn="r">
              <a:spcBef>
                <a:spcPts val="600"/>
              </a:spcBef>
              <a:defRPr sz="1150">
                <a:solidFill>
                  <a:srgbClr val="1E293B"/>
                </a:solidFill>
                <a:latin typeface="Arial"/>
              </a:defRPr>
            </a:pPr>
            <a:r>
              <a:t>• الغاية من هذا العرض: تسليم المتجر بفلسفة جاهزة (Turnkey) تتضمن الحلول الإلزامية الخمسة والأدلة التشغيلية لتمكين الفريق القادم من كسر هذا الحاجز وتحقيق مبيعات فورية.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2. تفكيك مسار التحويل الإعلاني والتشخيص (Funnel Drop-off)</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6217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44752"/>
            <a:ext cx="10180015" cy="457200"/>
          </a:xfrm>
          <a:prstGeom prst="rect">
            <a:avLst/>
          </a:prstGeom>
          <a:noFill/>
        </p:spPr>
        <p:txBody>
          <a:bodyPr wrap="square">
            <a:spAutoFit/>
          </a:bodyPr>
          <a:lstStyle/>
          <a:p>
            <a:pPr algn="r">
              <a:defRPr sz="1250" b="1">
                <a:solidFill>
                  <a:srgbClr val="0F172A"/>
                </a:solidFill>
                <a:latin typeface="Arial"/>
              </a:defRPr>
            </a:pPr>
            <a:r>
              <a:t>1. الظهور والوصول   |   &gt; 180,000+   |   انتشار وتفاعل واسع في السعودية</a:t>
            </a:r>
          </a:p>
        </p:txBody>
      </p:sp>
      <p:sp>
        <p:nvSpPr>
          <p:cNvPr id="7" name="Rounded Rectangle 6"/>
          <p:cNvSpPr/>
          <p:nvPr/>
        </p:nvSpPr>
        <p:spPr>
          <a:xfrm>
            <a:off x="731520" y="2066543"/>
            <a:ext cx="10728655" cy="6217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39695"/>
            <a:ext cx="10180015" cy="457200"/>
          </a:xfrm>
          <a:prstGeom prst="rect">
            <a:avLst/>
          </a:prstGeom>
          <a:noFill/>
        </p:spPr>
        <p:txBody>
          <a:bodyPr wrap="square">
            <a:spAutoFit/>
          </a:bodyPr>
          <a:lstStyle/>
          <a:p>
            <a:pPr algn="r">
              <a:defRPr sz="1250" b="1">
                <a:solidFill>
                  <a:srgbClr val="0F172A"/>
                </a:solidFill>
                <a:latin typeface="Arial"/>
              </a:defRPr>
            </a:pPr>
            <a:r>
              <a:t>2. زيارات الموقع (PV)   |   6,235   |   تكلفة مرور رخيصة (~0.53 ر.س للزيارة)</a:t>
            </a:r>
          </a:p>
        </p:txBody>
      </p:sp>
      <p:sp>
        <p:nvSpPr>
          <p:cNvPr id="9" name="Rounded Rectangle 8"/>
          <p:cNvSpPr/>
          <p:nvPr/>
        </p:nvSpPr>
        <p:spPr>
          <a:xfrm>
            <a:off x="731520" y="2761488"/>
            <a:ext cx="10728655" cy="6217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834640"/>
            <a:ext cx="10180015" cy="457200"/>
          </a:xfrm>
          <a:prstGeom prst="rect">
            <a:avLst/>
          </a:prstGeom>
          <a:noFill/>
        </p:spPr>
        <p:txBody>
          <a:bodyPr wrap="square">
            <a:spAutoFit/>
          </a:bodyPr>
          <a:lstStyle/>
          <a:p>
            <a:pPr algn="r">
              <a:defRPr sz="1250" b="1">
                <a:solidFill>
                  <a:srgbClr val="0F172A"/>
                </a:solidFill>
                <a:latin typeface="Arial"/>
              </a:defRPr>
            </a:pPr>
            <a:r>
              <a:t>3. تصفح تفاصيل الشنط   |   6,621   |   اهتمام عميق بالقطع وتفاصيل الجلود</a:t>
            </a:r>
          </a:p>
        </p:txBody>
      </p:sp>
      <p:sp>
        <p:nvSpPr>
          <p:cNvPr id="11" name="Rounded Rectangle 10"/>
          <p:cNvSpPr/>
          <p:nvPr/>
        </p:nvSpPr>
        <p:spPr>
          <a:xfrm>
            <a:off x="731520" y="3456432"/>
            <a:ext cx="10728655" cy="6217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29584"/>
            <a:ext cx="10180015" cy="457200"/>
          </a:xfrm>
          <a:prstGeom prst="rect">
            <a:avLst/>
          </a:prstGeom>
          <a:noFill/>
        </p:spPr>
        <p:txBody>
          <a:bodyPr wrap="square">
            <a:spAutoFit/>
          </a:bodyPr>
          <a:lstStyle/>
          <a:p>
            <a:pPr algn="r">
              <a:defRPr sz="1250" b="1">
                <a:solidFill>
                  <a:srgbClr val="0F172A"/>
                </a:solidFill>
                <a:latin typeface="Arial"/>
              </a:defRPr>
            </a:pPr>
            <a:r>
              <a:t>4. الإضافة للسلة (ATC)   |   49 سلة   |   37 سلة من تيك توك و 12 من سناب شات</a:t>
            </a:r>
          </a:p>
        </p:txBody>
      </p:sp>
      <p:sp>
        <p:nvSpPr>
          <p:cNvPr id="13" name="Rounded Rectangle 12"/>
          <p:cNvSpPr/>
          <p:nvPr/>
        </p:nvSpPr>
        <p:spPr>
          <a:xfrm>
            <a:off x="731520" y="4151376"/>
            <a:ext cx="10728655" cy="6217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24528"/>
            <a:ext cx="10180015" cy="457200"/>
          </a:xfrm>
          <a:prstGeom prst="rect">
            <a:avLst/>
          </a:prstGeom>
          <a:noFill/>
        </p:spPr>
        <p:txBody>
          <a:bodyPr wrap="square">
            <a:spAutoFit/>
          </a:bodyPr>
          <a:lstStyle/>
          <a:p>
            <a:pPr algn="r">
              <a:defRPr sz="1250" b="1">
                <a:solidFill>
                  <a:srgbClr val="0F172A"/>
                </a:solidFill>
                <a:latin typeface="Arial"/>
              </a:defRPr>
            </a:pPr>
            <a:r>
              <a:t>5. بدء إجراءات الدفع   |   46 محاولة   |   وصول 46 عميلة حتى مرحلة إدخال البيانات</a:t>
            </a:r>
          </a:p>
        </p:txBody>
      </p:sp>
      <p:sp>
        <p:nvSpPr>
          <p:cNvPr id="15" name="Rounded Rectangle 14"/>
          <p:cNvSpPr/>
          <p:nvPr/>
        </p:nvSpPr>
        <p:spPr>
          <a:xfrm>
            <a:off x="731520" y="4846320"/>
            <a:ext cx="10728655" cy="62179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919472"/>
            <a:ext cx="10180015" cy="457200"/>
          </a:xfrm>
          <a:prstGeom prst="rect">
            <a:avLst/>
          </a:prstGeom>
          <a:noFill/>
        </p:spPr>
        <p:txBody>
          <a:bodyPr wrap="square">
            <a:spAutoFit/>
          </a:bodyPr>
          <a:lstStyle/>
          <a:p>
            <a:pPr algn="r">
              <a:defRPr sz="1250" b="1">
                <a:solidFill>
                  <a:srgbClr val="DC2626"/>
                </a:solidFill>
                <a:latin typeface="Arial"/>
              </a:defRPr>
            </a:pPr>
            <a:r>
              <a:t>6. الشراء الفعلي (Purchases)   |   0 طلب   |   تسرب كامل بنسبة 100% في شاشة الدفع</a:t>
            </a:r>
          </a:p>
        </p:txBody>
      </p:sp>
      <p:sp>
        <p:nvSpPr>
          <p:cNvPr id="17" name="Rounded Rectangle 16"/>
          <p:cNvSpPr/>
          <p:nvPr/>
        </p:nvSpPr>
        <p:spPr>
          <a:xfrm>
            <a:off x="731520" y="5623560"/>
            <a:ext cx="10728655" cy="868680"/>
          </a:xfrm>
          <a:prstGeom prst="roundRect">
            <a:avLst/>
          </a:prstGeom>
          <a:solidFill>
            <a:srgbClr val="F5EEDC"/>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15000"/>
            <a:ext cx="10362895" cy="685800"/>
          </a:xfrm>
          <a:prstGeom prst="rect">
            <a:avLst/>
          </a:prstGeom>
          <a:noFill/>
        </p:spPr>
        <p:txBody>
          <a:bodyPr wrap="none">
            <a:spAutoFit/>
          </a:bodyPr>
          <a:lstStyle/>
          <a:p>
            <a:pPr algn="r">
              <a:defRPr sz="1100" b="1">
                <a:solidFill>
                  <a:srgbClr val="0F172A"/>
                </a:solidFill>
                <a:latin typeface="Arial"/>
              </a:defRPr>
            </a:pPr>
            <a:r>
              <a:t>التشخيص العلمي: النسبة المعيارية في السعودية للتحويل من (Checkout) إلى (Purchase) هي 35% - 55%. وصول 46 عميلة دون إتمام يثبت وجود جدار مقاومة نفسي وتقني وسعري في مرحلة الدفع وسلة، وليس مشكلة في جودة الزوار القادمين من الإعلانات.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3. تقييم حملات تيك توك والمواد الإعلانية (TikTok Ads Analysis)</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62895" cy="685800"/>
          </a:xfrm>
          <a:prstGeom prst="rect">
            <a:avLst/>
          </a:prstGeom>
          <a:noFill/>
        </p:spPr>
        <p:txBody>
          <a:bodyPr wrap="square">
            <a:spAutoFit/>
          </a:bodyPr>
          <a:lstStyle/>
          <a:p>
            <a:pPr algn="r">
              <a:defRPr sz="1200" b="1">
                <a:solidFill>
                  <a:srgbClr val="0F172A"/>
                </a:solidFill>
                <a:latin typeface="Arial"/>
              </a:defRPr>
            </a:pPr>
            <a:r>
              <a:t>تسليم فوري داخل السعودية CATALOG  (كتالوج DPA تفاعلي)  |  الصرف: 697.99 ر.س  |  الزيارات: 626  |  السلات: 18  |  بدء الدفع: 13</a:t>
            </a:r>
          </a:p>
          <a:p>
            <a:pPr algn="r">
              <a:spcBef>
                <a:spcPts val="300"/>
              </a:spcBef>
              <a:defRPr sz="1050">
                <a:solidFill>
                  <a:srgbClr val="10B981"/>
                </a:solidFill>
                <a:latin typeface="Arial"/>
              </a:defRPr>
            </a:pPr>
            <a:r>
              <a:t>التقييم الفني: الأعلى كفاءة في التحويل الأولي؛ زاوية التسليم الفوري أثبتت جاذبيتها</a:t>
            </a:r>
          </a:p>
        </p:txBody>
      </p:sp>
      <p:sp>
        <p:nvSpPr>
          <p:cNvPr id="7" name="Rounded Rectangle 6"/>
          <p:cNvSpPr/>
          <p:nvPr/>
        </p:nvSpPr>
        <p:spPr>
          <a:xfrm>
            <a:off x="731520" y="233172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62895" cy="685800"/>
          </a:xfrm>
          <a:prstGeom prst="rect">
            <a:avLst/>
          </a:prstGeom>
          <a:noFill/>
        </p:spPr>
        <p:txBody>
          <a:bodyPr wrap="square">
            <a:spAutoFit/>
          </a:bodyPr>
          <a:lstStyle/>
          <a:p>
            <a:pPr algn="r">
              <a:defRPr sz="1200" b="1">
                <a:solidFill>
                  <a:srgbClr val="0F172A"/>
                </a:solidFill>
                <a:latin typeface="Arial"/>
              </a:defRPr>
            </a:pPr>
            <a:r>
              <a:t>حقيبة Chanel 25  (فيديو استعراض تفاصيل)  |  الصرف: 660.54 ر.س  |  الزيارات: 804  |  السلات: 12  |  بدء الدفع: 4</a:t>
            </a:r>
          </a:p>
          <a:p>
            <a:pPr algn="r">
              <a:spcBef>
                <a:spcPts val="300"/>
              </a:spcBef>
              <a:defRPr sz="1050">
                <a:solidFill>
                  <a:srgbClr val="0284C7"/>
                </a:solidFill>
                <a:latin typeface="Arial"/>
              </a:defRPr>
            </a:pPr>
            <a:r>
              <a:t>التقييم الفني: جذب ترافيك ضخم، الشنطة مرغوبة جداً ولكن السعر أوقف الإكمال</a:t>
            </a:r>
          </a:p>
        </p:txBody>
      </p:sp>
      <p:sp>
        <p:nvSpPr>
          <p:cNvPr id="9" name="Rounded Rectangle 8"/>
          <p:cNvSpPr/>
          <p:nvPr/>
        </p:nvSpPr>
        <p:spPr>
          <a:xfrm>
            <a:off x="731520" y="329184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83280"/>
            <a:ext cx="10362895" cy="685800"/>
          </a:xfrm>
          <a:prstGeom prst="rect">
            <a:avLst/>
          </a:prstGeom>
          <a:noFill/>
        </p:spPr>
        <p:txBody>
          <a:bodyPr wrap="square">
            <a:spAutoFit/>
          </a:bodyPr>
          <a:lstStyle/>
          <a:p>
            <a:pPr algn="r">
              <a:defRPr sz="1200" b="1">
                <a:solidFill>
                  <a:srgbClr val="0F172A"/>
                </a:solidFill>
                <a:latin typeface="Arial"/>
              </a:defRPr>
            </a:pPr>
            <a:r>
              <a:t>HERMAS (إيرمز)  (فيديو فخامة وهالة)  |  الصرف: 405.80 ر.س  |  الزيارات: 548  |  السلات: 2  |  بدء الدفع: 6</a:t>
            </a:r>
          </a:p>
          <a:p>
            <a:pPr algn="r">
              <a:spcBef>
                <a:spcPts val="300"/>
              </a:spcBef>
              <a:defRPr sz="1050">
                <a:solidFill>
                  <a:srgbClr val="B8860B"/>
                </a:solidFill>
                <a:latin typeface="Arial"/>
              </a:defRPr>
            </a:pPr>
            <a:r>
              <a:t>التقييم الفني: نسبة تحويل ممتازة إلى بدء دفع (6 من أصل زيارات نوعية مركزة)</a:t>
            </a:r>
          </a:p>
        </p:txBody>
      </p:sp>
      <p:sp>
        <p:nvSpPr>
          <p:cNvPr id="11" name="Rounded Rectangle 10"/>
          <p:cNvSpPr/>
          <p:nvPr/>
        </p:nvSpPr>
        <p:spPr>
          <a:xfrm>
            <a:off x="731520" y="425196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43400"/>
            <a:ext cx="10362895" cy="685800"/>
          </a:xfrm>
          <a:prstGeom prst="rect">
            <a:avLst/>
          </a:prstGeom>
          <a:noFill/>
        </p:spPr>
        <p:txBody>
          <a:bodyPr wrap="square">
            <a:spAutoFit/>
          </a:bodyPr>
          <a:lstStyle/>
          <a:p>
            <a:pPr algn="r">
              <a:defRPr sz="1200" b="1">
                <a:solidFill>
                  <a:srgbClr val="0F172A"/>
                </a:solidFill>
                <a:latin typeface="Arial"/>
              </a:defRPr>
            </a:pPr>
            <a:r>
              <a:t>Multipass (لوي فيتون)  (فيديو حقيبة عملية)  |  الصرف: 199.40 ر.س  |  الزيارات: 217  |  السلات: 5  |  بدء الدفع: 5</a:t>
            </a:r>
          </a:p>
          <a:p>
            <a:pPr algn="r">
              <a:spcBef>
                <a:spcPts val="300"/>
              </a:spcBef>
              <a:defRPr sz="1050">
                <a:solidFill>
                  <a:srgbClr val="0284C7"/>
                </a:solidFill>
                <a:latin typeface="Arial"/>
              </a:defRPr>
            </a:pPr>
            <a:r>
              <a:t>التقييم الفني: معدل وصول للدفع ممتاز جداً (1 Checkout لكل 40 ريال تقريباً)</a:t>
            </a:r>
          </a:p>
        </p:txBody>
      </p:sp>
      <p:sp>
        <p:nvSpPr>
          <p:cNvPr id="13" name="Rounded Rectangle 12"/>
          <p:cNvSpPr/>
          <p:nvPr/>
        </p:nvSpPr>
        <p:spPr>
          <a:xfrm>
            <a:off x="731520" y="521208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03520"/>
            <a:ext cx="10362895" cy="685800"/>
          </a:xfrm>
          <a:prstGeom prst="rect">
            <a:avLst/>
          </a:prstGeom>
          <a:noFill/>
        </p:spPr>
        <p:txBody>
          <a:bodyPr wrap="square">
            <a:spAutoFit/>
          </a:bodyPr>
          <a:lstStyle/>
          <a:p>
            <a:pPr algn="r">
              <a:defRPr sz="1200" b="1">
                <a:solidFill>
                  <a:srgbClr val="0F172A"/>
                </a:solidFill>
                <a:latin typeface="Arial"/>
              </a:defRPr>
            </a:pPr>
            <a:r>
              <a:t>car video (فيديو السيارة)  (فيديو لايف ستايل)  |  الصرف: 145.63 ر.س  |  الزيارات: 78  |  السلات: 0  |  بدء الدفع: 0</a:t>
            </a:r>
          </a:p>
          <a:p>
            <a:pPr algn="r">
              <a:spcBef>
                <a:spcPts val="300"/>
              </a:spcBef>
              <a:defRPr sz="1050">
                <a:solidFill>
                  <a:srgbClr val="DC2626"/>
                </a:solidFill>
                <a:latin typeface="Arial"/>
              </a:defRPr>
            </a:pPr>
            <a:r>
              <a:t>التقييم الفني: مفهوم غير مجدٍ تم إيقافه فوراً لعدم تحقيقه أي تفاعل شرائي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4. ماكينة ترافيك سناب شات وحملات اليوم الوطني (Snapchat Ads)</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lgn="r">
              <a:defRPr sz="1600" b="1">
                <a:solidFill>
                  <a:srgbClr val="0F172A"/>
                </a:solidFill>
                <a:latin typeface="Arial"/>
              </a:defRPr>
            </a:pPr>
            <a:r>
              <a:t>حملة الكتالوج الديناميكي (DBA - مدن مختارة)</a:t>
            </a:r>
          </a:p>
          <a:p>
            <a:pPr algn="r">
              <a:spcBef>
                <a:spcPts val="800"/>
              </a:spcBef>
              <a:defRPr sz="1100">
                <a:solidFill>
                  <a:srgbClr val="1E293B"/>
                </a:solidFill>
                <a:latin typeface="Arial"/>
              </a:defRPr>
            </a:pPr>
            <a:r>
              <a:t>• استهداف النخبة: تم حصر الحملة على الرياض، جدة، والمنطقة الشرقية.</a:t>
            </a:r>
          </a:p>
          <a:p>
            <a:pPr algn="r">
              <a:spcBef>
                <a:spcPts val="800"/>
              </a:spcBef>
              <a:defRPr sz="1100">
                <a:solidFill>
                  <a:srgbClr val="1E293B"/>
                </a:solidFill>
                <a:latin typeface="Arial"/>
              </a:defRPr>
            </a:pPr>
            <a:r>
              <a:t>• الإنفاق الإجمالي: 782.71 ريال سعودي.</a:t>
            </a:r>
          </a:p>
          <a:p>
            <a:pPr algn="r">
              <a:spcBef>
                <a:spcPts val="800"/>
              </a:spcBef>
              <a:defRPr sz="1100">
                <a:solidFill>
                  <a:srgbClr val="1E293B"/>
                </a:solidFill>
                <a:latin typeface="Arial"/>
              </a:defRPr>
            </a:pPr>
            <a:r>
              <a:t>• مرات الظهور: 79,435 ظهور.</a:t>
            </a:r>
          </a:p>
          <a:p>
            <a:pPr algn="r">
              <a:spcBef>
                <a:spcPts val="800"/>
              </a:spcBef>
              <a:defRPr sz="1100">
                <a:solidFill>
                  <a:srgbClr val="1E293B"/>
                </a:solidFill>
                <a:latin typeface="Arial"/>
              </a:defRPr>
            </a:pPr>
            <a:r>
              <a:t>• النقرات وسحبات الشاشة: 2,937 نقرة بسعر خارق بلغ (0.26 ر.س فقط للنقرة!).</a:t>
            </a:r>
          </a:p>
          <a:p>
            <a:pPr algn="r">
              <a:spcBef>
                <a:spcPts val="800"/>
              </a:spcBef>
              <a:defRPr sz="1100">
                <a:solidFill>
                  <a:srgbClr val="1E293B"/>
                </a:solidFill>
                <a:latin typeface="Arial"/>
              </a:defRPr>
            </a:pPr>
            <a:r>
              <a:t>• الزيارات والسلات: 3,700 زيارة لصفحات المنتجات، 10 إضافات للسلة، و 10 محاولات بدء دفع.</a:t>
            </a:r>
          </a:p>
          <a:p>
            <a:pPr algn="r">
              <a:spcBef>
                <a:spcPts val="800"/>
              </a:spcBef>
              <a:defRPr sz="1100">
                <a:solidFill>
                  <a:srgbClr val="1E293B"/>
                </a:solidFill>
                <a:latin typeface="Arial"/>
              </a:defRPr>
            </a:pPr>
            <a:r>
              <a:t>• التوصية الاستراتيجية: سناب شات أثبت أنه القناة الأرخص لتغذية المتجر بحركة مرور نسائية متوافقة مع الفئة القادرة شرائياً.</a:t>
            </a:r>
          </a:p>
        </p:txBody>
      </p:sp>
      <p:sp>
        <p:nvSpPr>
          <p:cNvPr id="7" name="Rounded Rectangle 6"/>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lgn="r">
              <a:defRPr sz="1600" b="1">
                <a:solidFill>
                  <a:srgbClr val="0F172A"/>
                </a:solidFill>
                <a:latin typeface="Arial"/>
              </a:defRPr>
            </a:pPr>
            <a:r>
              <a:t>حملة عروض الفيديو (Multipass لوي فيتون)</a:t>
            </a:r>
          </a:p>
          <a:p>
            <a:pPr algn="r">
              <a:spcBef>
                <a:spcPts val="800"/>
              </a:spcBef>
              <a:defRPr sz="1100">
                <a:solidFill>
                  <a:srgbClr val="1E293B"/>
                </a:solidFill>
                <a:latin typeface="Arial"/>
              </a:defRPr>
            </a:pPr>
            <a:r>
              <a:t>• الشريحة المستهدفة: المملكة العربية السعودية، إناث 22-37 سنة.</a:t>
            </a:r>
          </a:p>
          <a:p>
            <a:pPr algn="r">
              <a:spcBef>
                <a:spcPts val="800"/>
              </a:spcBef>
              <a:defRPr sz="1100">
                <a:solidFill>
                  <a:srgbClr val="1E293B"/>
                </a:solidFill>
                <a:latin typeface="Arial"/>
              </a:defRPr>
            </a:pPr>
            <a:r>
              <a:t>• الإنفاق الإجمالي: 402.53 ريال سعودي.</a:t>
            </a:r>
          </a:p>
          <a:p>
            <a:pPr algn="r">
              <a:spcBef>
                <a:spcPts val="800"/>
              </a:spcBef>
              <a:defRPr sz="1100">
                <a:solidFill>
                  <a:srgbClr val="1E293B"/>
                </a:solidFill>
                <a:latin typeface="Arial"/>
              </a:defRPr>
            </a:pPr>
            <a:r>
              <a:t>• مرات الظهور: 24,729 ظهور.</a:t>
            </a:r>
          </a:p>
          <a:p>
            <a:pPr algn="r">
              <a:spcBef>
                <a:spcPts val="800"/>
              </a:spcBef>
              <a:defRPr sz="1100">
                <a:solidFill>
                  <a:srgbClr val="1E293B"/>
                </a:solidFill>
                <a:latin typeface="Arial"/>
              </a:defRPr>
            </a:pPr>
            <a:r>
              <a:t>• مشاهدات الفيديو (2s Views): 2,452 مشاهدة.</a:t>
            </a:r>
          </a:p>
          <a:p>
            <a:pPr algn="r">
              <a:spcBef>
                <a:spcPts val="800"/>
              </a:spcBef>
              <a:defRPr sz="1100">
                <a:solidFill>
                  <a:srgbClr val="1E293B"/>
                </a:solidFill>
                <a:latin typeface="Arial"/>
              </a:defRPr>
            </a:pPr>
            <a:r>
              <a:t>• التفاعل والتحويل: 262 زيارة للموقع، عمليتا إضافة للسلة، و 8 محاولات بدء دفع.</a:t>
            </a:r>
          </a:p>
          <a:p>
            <a:pPr algn="r">
              <a:spcBef>
                <a:spcPts val="800"/>
              </a:spcBef>
              <a:defRPr sz="1100">
                <a:solidFill>
                  <a:srgbClr val="1E293B"/>
                </a:solidFill>
                <a:latin typeface="Arial"/>
              </a:defRPr>
            </a:pPr>
            <a:r>
              <a:t>• معدل التحويل إلى دفع (3.05%): نسبة من انتقلوا من الزيارة إلى بدء الدفع كانت مرتفعة جداً (8 من أصل 262 زائر)، مما يؤكد قوة إعلان الفيديو في بناء نية الشراء.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5. إيش اللي نجح معنا في الاختبارات الميدانية؟ (What Worked)</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463040"/>
            <a:ext cx="10728655"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27632"/>
            <a:ext cx="10180015" cy="1143000"/>
          </a:xfrm>
          <a:prstGeom prst="rect">
            <a:avLst/>
          </a:prstGeom>
          <a:noFill/>
        </p:spPr>
        <p:txBody>
          <a:bodyPr wrap="square">
            <a:spAutoFit/>
          </a:bodyPr>
          <a:lstStyle/>
          <a:p>
            <a:pPr algn="r">
              <a:defRPr sz="1500" b="1">
                <a:solidFill>
                  <a:srgbClr val="10B981"/>
                </a:solidFill>
                <a:latin typeface="Arial"/>
              </a:defRPr>
            </a:pPr>
            <a:r>
              <a:t>1. زاوية 'التسليم الفوري خلال 48 ساعة داخل المملكة'</a:t>
            </a:r>
          </a:p>
          <a:p>
            <a:pPr algn="r">
              <a:spcBef>
                <a:spcPts val="600"/>
              </a:spcBef>
              <a:defRPr sz="1150">
                <a:solidFill>
                  <a:srgbClr val="1E293B"/>
                </a:solidFill>
                <a:latin typeface="Arial"/>
              </a:defRPr>
            </a:pPr>
            <a:r>
              <a:t>أثبتت البيانات أن إعلانات الكتالوج التي تبرز المخزون المحلي والتوصيل الفوري حصدت وحدها 23 محاولة دفع (Checkouts) من أصل 46. الجمهور السعودي لا يفضل الانتظار 15-30 يوماً من الصين، والجاهزية المحلية هي المحرك الأكبر للطلب.</a:t>
            </a:r>
          </a:p>
        </p:txBody>
      </p:sp>
      <p:sp>
        <p:nvSpPr>
          <p:cNvPr id="7" name="Rounded Rectangle 6"/>
          <p:cNvSpPr/>
          <p:nvPr/>
        </p:nvSpPr>
        <p:spPr>
          <a:xfrm>
            <a:off x="731520" y="3108960"/>
            <a:ext cx="10728655"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73552"/>
            <a:ext cx="10180015" cy="1143000"/>
          </a:xfrm>
          <a:prstGeom prst="rect">
            <a:avLst/>
          </a:prstGeom>
          <a:noFill/>
        </p:spPr>
        <p:txBody>
          <a:bodyPr wrap="square">
            <a:spAutoFit/>
          </a:bodyPr>
          <a:lstStyle/>
          <a:p>
            <a:pPr algn="r">
              <a:defRPr sz="1500" b="1">
                <a:solidFill>
                  <a:srgbClr val="0284C7"/>
                </a:solidFill>
                <a:latin typeface="Arial"/>
              </a:defRPr>
            </a:pPr>
            <a:r>
              <a:t>2. استهداف إناث 22-37 سنة في المدن الكبرى (الرياض، الشرقية، جدة)</a:t>
            </a:r>
          </a:p>
          <a:p>
            <a:pPr algn="r">
              <a:spcBef>
                <a:spcPts val="600"/>
              </a:spcBef>
              <a:defRPr sz="1150">
                <a:solidFill>
                  <a:srgbClr val="1E293B"/>
                </a:solidFill>
                <a:latin typeface="Arial"/>
              </a:defRPr>
            </a:pPr>
            <a:r>
              <a:t>حصر الاستهداف الجغرافي والعمري على المدن الرئيسية جلب حركة مرور متوافقة تماماً مع الفئة القادرة شرائياً على اقتناء شنط بأسعار 600 - 1,200 ريال، مع تراجع ملحوظ في النقرات العشوائية.</a:t>
            </a:r>
          </a:p>
        </p:txBody>
      </p:sp>
      <p:sp>
        <p:nvSpPr>
          <p:cNvPr id="9" name="Rounded Rectangle 8"/>
          <p:cNvSpPr/>
          <p:nvPr/>
        </p:nvSpPr>
        <p:spPr>
          <a:xfrm>
            <a:off x="731520" y="4754880"/>
            <a:ext cx="10728655"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19472"/>
            <a:ext cx="10180015" cy="1143000"/>
          </a:xfrm>
          <a:prstGeom prst="rect">
            <a:avLst/>
          </a:prstGeom>
          <a:noFill/>
        </p:spPr>
        <p:txBody>
          <a:bodyPr wrap="square">
            <a:spAutoFit/>
          </a:bodyPr>
          <a:lstStyle/>
          <a:p>
            <a:pPr algn="r">
              <a:defRPr sz="1500" b="1">
                <a:solidFill>
                  <a:srgbClr val="B8860B"/>
                </a:solidFill>
                <a:latin typeface="Arial"/>
              </a:defRPr>
            </a:pPr>
            <a:r>
              <a:t>3. قاطرات الجذب والمنتجات ذات 'الهبة' (Winning SKUs)</a:t>
            </a:r>
          </a:p>
          <a:p>
            <a:pPr algn="r">
              <a:spcBef>
                <a:spcPts val="600"/>
              </a:spcBef>
              <a:defRPr sz="1150">
                <a:solidFill>
                  <a:srgbClr val="1E293B"/>
                </a:solidFill>
                <a:latin typeface="Arial"/>
              </a:defRPr>
            </a:pPr>
            <a:r>
              <a:t>حقائب Chanel 25، Hermès، و Louis Vuitton Multipass حققت أعلى معدلات تفاعل وسلات، وأثبتت أنها الخيار الأمثل لجذب الزائرات الجدد إلى المتجر وبناء الاهتمام الأولي.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6. تشخيص نقاط الاختناق ومقاومة الشراء (The Bottlenecks)</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89611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81328"/>
            <a:ext cx="10362895" cy="685800"/>
          </a:xfrm>
          <a:prstGeom prst="rect">
            <a:avLst/>
          </a:prstGeom>
          <a:noFill/>
        </p:spPr>
        <p:txBody>
          <a:bodyPr wrap="square">
            <a:spAutoFit/>
          </a:bodyPr>
          <a:lstStyle/>
          <a:p>
            <a:pPr algn="r">
              <a:defRPr sz="1300" b="1">
                <a:solidFill>
                  <a:srgbClr val="DC2626"/>
                </a:solidFill>
                <a:latin typeface="Arial"/>
              </a:defRPr>
            </a:pPr>
            <a:r>
              <a:t>1. ضعف واجهة المتجر الرئيسية (Home Page Hero):</a:t>
            </a:r>
          </a:p>
          <a:p>
            <a:pPr algn="r">
              <a:spcBef>
                <a:spcPts val="300"/>
              </a:spcBef>
              <a:defRPr sz="1100">
                <a:solidFill>
                  <a:srgbClr val="1E293B"/>
                </a:solidFill>
                <a:latin typeface="Arial"/>
              </a:defRPr>
            </a:pPr>
            <a:r>
              <a:t>تفتقر لعناصر الإبهار الفاخر وبنرات الثقة الفورية؛ غياب توضيح المعاينة قبل الاستلام وشعار تمارا البارز يثير قلق العميلة فور دخولها.</a:t>
            </a:r>
          </a:p>
        </p:txBody>
      </p:sp>
      <p:sp>
        <p:nvSpPr>
          <p:cNvPr id="7" name="Rounded Rectangle 6"/>
          <p:cNvSpPr/>
          <p:nvPr/>
        </p:nvSpPr>
        <p:spPr>
          <a:xfrm>
            <a:off x="731520" y="2359152"/>
            <a:ext cx="10728655" cy="89611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68880"/>
            <a:ext cx="10362895" cy="685800"/>
          </a:xfrm>
          <a:prstGeom prst="rect">
            <a:avLst/>
          </a:prstGeom>
          <a:noFill/>
        </p:spPr>
        <p:txBody>
          <a:bodyPr wrap="square">
            <a:spAutoFit/>
          </a:bodyPr>
          <a:lstStyle/>
          <a:p>
            <a:pPr algn="r">
              <a:defRPr sz="1300" b="1">
                <a:solidFill>
                  <a:srgbClr val="DC2626"/>
                </a:solidFill>
                <a:latin typeface="Arial"/>
              </a:defRPr>
            </a:pPr>
            <a:r>
              <a:t>2. معضلة التسعير وحاجز التجربة الأولى:</a:t>
            </a:r>
          </a:p>
          <a:p>
            <a:pPr algn="r">
              <a:spcBef>
                <a:spcPts val="300"/>
              </a:spcBef>
              <a:defRPr sz="1100">
                <a:solidFill>
                  <a:srgbClr val="1E293B"/>
                </a:solidFill>
                <a:latin typeface="Arial"/>
              </a:defRPr>
            </a:pPr>
            <a:r>
              <a:t>46 عميلة وصلن لشاشة الدفع وتراجعن بسبب المبلغ الإجمالي (900-1,200 ر.س) بدون أي كود خصم للطلب الأول أو شحن مجاني يكسر التردد.</a:t>
            </a:r>
          </a:p>
        </p:txBody>
      </p:sp>
      <p:sp>
        <p:nvSpPr>
          <p:cNvPr id="9" name="Rounded Rectangle 8"/>
          <p:cNvSpPr/>
          <p:nvPr/>
        </p:nvSpPr>
        <p:spPr>
          <a:xfrm>
            <a:off x="731520" y="3346704"/>
            <a:ext cx="10728655" cy="89611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56432"/>
            <a:ext cx="10362895" cy="685800"/>
          </a:xfrm>
          <a:prstGeom prst="rect">
            <a:avLst/>
          </a:prstGeom>
          <a:noFill/>
        </p:spPr>
        <p:txBody>
          <a:bodyPr wrap="square">
            <a:spAutoFit/>
          </a:bodyPr>
          <a:lstStyle/>
          <a:p>
            <a:pPr algn="r">
              <a:defRPr sz="1300" b="1">
                <a:solidFill>
                  <a:srgbClr val="DC2626"/>
                </a:solidFill>
                <a:latin typeface="Arial"/>
              </a:defRPr>
            </a:pPr>
            <a:r>
              <a:t>3. غياب الدليل الاجتماعي والمؤثرات (UGC Proof):</a:t>
            </a:r>
          </a:p>
          <a:p>
            <a:pPr algn="r">
              <a:spcBef>
                <a:spcPts val="300"/>
              </a:spcBef>
              <a:defRPr sz="1100">
                <a:solidFill>
                  <a:srgbClr val="1E293B"/>
                </a:solidFill>
                <a:latin typeface="Arial"/>
              </a:defRPr>
            </a:pPr>
            <a:r>
              <a:t>منتجات الماستر كواليتي لا تُباع بصور صامتة؛ العميلة تحتاج لرؤية فتاة سعودية تفتح البوكس، تستعرض خامة الجلد، وتريها لمعان وثقل القفل.</a:t>
            </a:r>
          </a:p>
        </p:txBody>
      </p:sp>
      <p:sp>
        <p:nvSpPr>
          <p:cNvPr id="11" name="Rounded Rectangle 10"/>
          <p:cNvSpPr/>
          <p:nvPr/>
        </p:nvSpPr>
        <p:spPr>
          <a:xfrm>
            <a:off x="731520" y="4334256"/>
            <a:ext cx="10728655" cy="89611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43984"/>
            <a:ext cx="10362895" cy="685800"/>
          </a:xfrm>
          <a:prstGeom prst="rect">
            <a:avLst/>
          </a:prstGeom>
          <a:noFill/>
        </p:spPr>
        <p:txBody>
          <a:bodyPr wrap="square">
            <a:spAutoFit/>
          </a:bodyPr>
          <a:lstStyle/>
          <a:p>
            <a:pPr algn="r">
              <a:defRPr sz="1300" b="1">
                <a:solidFill>
                  <a:srgbClr val="DC2626"/>
                </a:solidFill>
                <a:latin typeface="Arial"/>
              </a:defRPr>
            </a:pPr>
            <a:r>
              <a:t>4. حظر وتعطيل إعلانات ميتا (Meta / Instagram Block):</a:t>
            </a:r>
          </a:p>
          <a:p>
            <a:pPr algn="r">
              <a:spcBef>
                <a:spcPts val="300"/>
              </a:spcBef>
              <a:defRPr sz="1100">
                <a:solidFill>
                  <a:srgbClr val="1E293B"/>
                </a:solidFill>
                <a:latin typeface="Arial"/>
              </a:defRPr>
            </a:pPr>
            <a:r>
              <a:t>فحص ميتا الآلي يرفض روابط الكتالوج والنطاقات التي تذكر أسماء الماركات العالمية المحمية، مما عطل إنستجرام وفيسبوك وإعادة الاستهداف.</a:t>
            </a:r>
          </a:p>
        </p:txBody>
      </p:sp>
      <p:sp>
        <p:nvSpPr>
          <p:cNvPr id="13" name="Rounded Rectangle 12"/>
          <p:cNvSpPr/>
          <p:nvPr/>
        </p:nvSpPr>
        <p:spPr>
          <a:xfrm>
            <a:off x="731520" y="5321808"/>
            <a:ext cx="10728655" cy="89611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31536"/>
            <a:ext cx="10362895" cy="685800"/>
          </a:xfrm>
          <a:prstGeom prst="rect">
            <a:avLst/>
          </a:prstGeom>
          <a:noFill/>
        </p:spPr>
        <p:txBody>
          <a:bodyPr wrap="square">
            <a:spAutoFit/>
          </a:bodyPr>
          <a:lstStyle/>
          <a:p>
            <a:pPr algn="r">
              <a:defRPr sz="1300" b="1">
                <a:solidFill>
                  <a:srgbClr val="DC2626"/>
                </a:solidFill>
                <a:latin typeface="Arial"/>
              </a:defRPr>
            </a:pPr>
            <a:r>
              <a:t>5. تشتت صور المنتجات وغياب صور الموديلز:</a:t>
            </a:r>
          </a:p>
          <a:p>
            <a:pPr algn="r">
              <a:spcBef>
                <a:spcPts val="300"/>
              </a:spcBef>
              <a:defRPr sz="1100">
                <a:solidFill>
                  <a:srgbClr val="1E293B"/>
                </a:solidFill>
                <a:latin typeface="Arial"/>
              </a:defRPr>
            </a:pPr>
            <a:r>
              <a:t>الخلفيات غير موحدة، ولا توجد صور لعارضات (On-Model) تبيّن الحجم الحقيقي للحقيبة على الجسم مقارنة بالعباية والإطلالة اليومية.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7. الحل الأول (SOP) • تطوير الـ Hero Section وعناصر الثقة في سلة</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80015" cy="4572000"/>
          </a:xfrm>
          <a:prstGeom prst="rect">
            <a:avLst/>
          </a:prstGeom>
          <a:noFill/>
        </p:spPr>
        <p:txBody>
          <a:bodyPr wrap="square">
            <a:spAutoFit/>
          </a:bodyPr>
          <a:lstStyle/>
          <a:p>
            <a:pPr algn="r">
              <a:defRPr sz="1600" b="1">
                <a:solidFill>
                  <a:srgbClr val="0F172A"/>
                </a:solidFill>
                <a:latin typeface="Arial"/>
              </a:defRPr>
            </a:pPr>
            <a:r>
              <a:t>الدليل الإجرائي لتحديث واجهة المتجر الرئيسية (Salla Hero Customization):</a:t>
            </a:r>
          </a:p>
          <a:p>
            <a:pPr algn="r">
              <a:spcBef>
                <a:spcPts val="400"/>
              </a:spcBef>
              <a:defRPr sz="1150" b="1">
                <a:solidFill>
                  <a:srgbClr val="B8860B"/>
                </a:solidFill>
                <a:latin typeface="Arial"/>
              </a:defRPr>
            </a:pPr>
            <a:r>
              <a:t>1. صياغة الهيدلاين الحاسم (The Hook Headline):</a:t>
            </a:r>
          </a:p>
          <a:p>
            <a:pPr algn="r">
              <a:spcBef>
                <a:spcPts val="400"/>
              </a:spcBef>
              <a:defRPr sz="1150" b="0">
                <a:solidFill>
                  <a:srgbClr val="1E293B"/>
                </a:solidFill>
                <a:latin typeface="Arial"/>
              </a:defRPr>
            </a:pPr>
            <a:r>
              <a:t>   • العنوان المعتمد: 'فخامة الماركات العالمية بين يديك.. جودة متقنة 1:1 وتوصيل فوري لباب بيتك خلال 48 ساعة'.</a:t>
            </a:r>
          </a:p>
          <a:p>
            <a:pPr algn="r">
              <a:spcBef>
                <a:spcPts val="400"/>
              </a:spcBef>
              <a:defRPr sz="1150" b="0">
                <a:solidFill>
                  <a:srgbClr val="1E293B"/>
                </a:solidFill>
                <a:latin typeface="Arial"/>
              </a:defRPr>
            </a:pPr>
            <a:r>
              <a:t>   • العنوان الفرعي: 'استمتعي بأرقى الماركات مع كامل ملحقات البوتيك الفاخرة وخيارات التقسيط المريح مع تمارا'.</a:t>
            </a:r>
          </a:p>
          <a:p>
            <a:pPr algn="r">
              <a:spcBef>
                <a:spcPts val="400"/>
              </a:spcBef>
              <a:defRPr sz="1150" b="1">
                <a:solidFill>
                  <a:srgbClr val="B8860B"/>
                </a:solidFill>
                <a:latin typeface="Arial"/>
              </a:defRPr>
            </a:pPr>
            <a:r>
              <a:t>2. شريط أيقونات الضمان الأربعة (إلزامي أسفل زر الشراء مباشرة):</a:t>
            </a:r>
          </a:p>
          <a:p>
            <a:pPr algn="r">
              <a:spcBef>
                <a:spcPts val="400"/>
              </a:spcBef>
              <a:defRPr sz="1150" b="0">
                <a:solidFill>
                  <a:srgbClr val="1E293B"/>
                </a:solidFill>
                <a:latin typeface="Arial"/>
              </a:defRPr>
            </a:pPr>
            <a:r>
              <a:t>   • 🛡️ معاينة قبل الاستلام: تصفحي المنتج واستلمي بثقة تامة وأمان كامل.</a:t>
            </a:r>
          </a:p>
          <a:p>
            <a:pPr algn="r">
              <a:spcBef>
                <a:spcPts val="400"/>
              </a:spcBef>
              <a:defRPr sz="1150" b="0">
                <a:solidFill>
                  <a:srgbClr val="1E293B"/>
                </a:solidFill>
                <a:latin typeface="Arial"/>
              </a:defRPr>
            </a:pPr>
            <a:r>
              <a:t>   • ⚡ توصيل فوري خلال 48 ساعة: مخزون محلي جاهز للشحن بالرياض ومناطق المملكة.</a:t>
            </a:r>
          </a:p>
          <a:p>
            <a:pPr algn="r">
              <a:spcBef>
                <a:spcPts val="400"/>
              </a:spcBef>
              <a:defRPr sz="1150" b="0">
                <a:solidFill>
                  <a:srgbClr val="1E293B"/>
                </a:solidFill>
                <a:latin typeface="Arial"/>
              </a:defRPr>
            </a:pPr>
            <a:r>
              <a:t>   • 💳 قسّطيها براحتك: معتمدة رسمياً لدى تمارا (4 دفعات بدون فوائد أو رسوم إضافية).</a:t>
            </a:r>
          </a:p>
          <a:p>
            <a:pPr algn="r">
              <a:spcBef>
                <a:spcPts val="400"/>
              </a:spcBef>
              <a:defRPr sz="1150" b="0">
                <a:solidFill>
                  <a:srgbClr val="1E293B"/>
                </a:solidFill>
                <a:latin typeface="Arial"/>
              </a:defRPr>
            </a:pPr>
            <a:r>
              <a:t>   • 📦 تغليف البوتيك المتكامل: البوكس الفاخر الثقيل، كيس القماش الحامي (Dust Bag)، والملحقات.</a:t>
            </a:r>
          </a:p>
          <a:p>
            <a:pPr algn="r">
              <a:spcBef>
                <a:spcPts val="400"/>
              </a:spcBef>
              <a:defRPr sz="1150" b="1">
                <a:solidFill>
                  <a:srgbClr val="B8860B"/>
                </a:solidFill>
                <a:latin typeface="Arial"/>
              </a:defRPr>
            </a:pPr>
            <a:r>
              <a:t>3. زر الدعوة للإجراء (Primary CTA):</a:t>
            </a:r>
          </a:p>
          <a:p>
            <a:pPr algn="r">
              <a:spcBef>
                <a:spcPts val="400"/>
              </a:spcBef>
              <a:defRPr sz="1150" b="0">
                <a:solidFill>
                  <a:srgbClr val="1E293B"/>
                </a:solidFill>
                <a:latin typeface="Arial"/>
              </a:defRPr>
            </a:pPr>
            <a:r>
              <a:t>   • استبدال الأزرار العامة بـ: [ تصفحي تشكيلة التسليم الفوري الآن ] مع ربطه المباشر بقسم المنتجات الجاهزة في المستودع المحلي.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8. الحل الثاني (SOP) • هندسة التسعير وكسر حاجز الطلب الأول</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80015" cy="4572000"/>
          </a:xfrm>
          <a:prstGeom prst="rect">
            <a:avLst/>
          </a:prstGeom>
          <a:noFill/>
        </p:spPr>
        <p:txBody>
          <a:bodyPr wrap="square">
            <a:spAutoFit/>
          </a:bodyPr>
          <a:lstStyle/>
          <a:p>
            <a:pPr algn="r">
              <a:defRPr sz="1600" b="1">
                <a:solidFill>
                  <a:srgbClr val="0F172A"/>
                </a:solidFill>
                <a:latin typeface="Arial"/>
              </a:defRPr>
            </a:pPr>
            <a:r>
              <a:t>استراتيجية كسر المقاومة السعرية عند صفحة الدفع (Checkouts Conversion):</a:t>
            </a:r>
          </a:p>
          <a:p>
            <a:pPr algn="r">
              <a:spcBef>
                <a:spcPts val="500"/>
              </a:spcBef>
              <a:defRPr sz="1150" b="1">
                <a:solidFill>
                  <a:srgbClr val="B8860B"/>
                </a:solidFill>
                <a:latin typeface="Arial"/>
              </a:defRPr>
            </a:pPr>
            <a:r>
              <a:t>1. كود الخصم الترحيبي الفوري (First-Order Friction Reducer):</a:t>
            </a:r>
          </a:p>
          <a:p>
            <a:pPr algn="r">
              <a:spcBef>
                <a:spcPts val="500"/>
              </a:spcBef>
              <a:defRPr sz="1150" b="0">
                <a:solidFill>
                  <a:srgbClr val="1E293B"/>
                </a:solidFill>
                <a:latin typeface="Arial"/>
              </a:defRPr>
            </a:pPr>
            <a:r>
              <a:t>   • تفعيل شريط علوي مثبت (Sticky Bar) يظهر في كافة الصفحات بكود: FIRST10 لخصم 10% أو شحن مجاني لأول طلب.</a:t>
            </a:r>
          </a:p>
          <a:p>
            <a:pPr algn="r">
              <a:spcBef>
                <a:spcPts val="500"/>
              </a:spcBef>
              <a:defRPr sz="1150" b="0">
                <a:solidFill>
                  <a:srgbClr val="1E293B"/>
                </a:solidFill>
                <a:latin typeface="Arial"/>
              </a:defRPr>
            </a:pPr>
            <a:r>
              <a:t>   • هذا الحافز وحده كفيل بتحويل نسبة كبيرة من الـ 46 عميلة اللاتي ترددن عند الدفع.</a:t>
            </a:r>
          </a:p>
          <a:p>
            <a:pPr algn="r">
              <a:spcBef>
                <a:spcPts val="500"/>
              </a:spcBef>
              <a:defRPr sz="1150" b="1">
                <a:solidFill>
                  <a:srgbClr val="B8860B"/>
                </a:solidFill>
                <a:latin typeface="Arial"/>
              </a:defRPr>
            </a:pPr>
            <a:r>
              <a:t>2. تثبيت السعر النفسي ومقارنة التوفير (Psychological Price Anchoring):</a:t>
            </a:r>
          </a:p>
          <a:p>
            <a:pPr algn="r">
              <a:spcBef>
                <a:spcPts val="500"/>
              </a:spcBef>
              <a:defRPr sz="1150" b="0">
                <a:solidFill>
                  <a:srgbClr val="1E293B"/>
                </a:solidFill>
                <a:latin typeface="Arial"/>
              </a:defRPr>
            </a:pPr>
            <a:r>
              <a:t>   • عرض السعر الأصلي للبوتيك مشطوباً لإظهار حجم التوفير الذكي (90%):</a:t>
            </a:r>
          </a:p>
          <a:p>
            <a:pPr algn="r">
              <a:spcBef>
                <a:spcPts val="500"/>
              </a:spcBef>
              <a:defRPr sz="1150" b="0">
                <a:solidFill>
                  <a:srgbClr val="1E293B"/>
                </a:solidFill>
                <a:latin typeface="Arial"/>
              </a:defRPr>
            </a:pPr>
            <a:r>
              <a:t>   • مثال: سعر البوتيك الأصلي: 22,000 ر.س  |  سعر كليك لوك ماستر كواليتي: 890 ر.س  |  أو 222 ر.س شهرياً مع تمارا.</a:t>
            </a:r>
          </a:p>
          <a:p>
            <a:pPr algn="r">
              <a:spcBef>
                <a:spcPts val="500"/>
              </a:spcBef>
              <a:defRPr sz="1150" b="1">
                <a:solidFill>
                  <a:srgbClr val="B8860B"/>
                </a:solidFill>
                <a:latin typeface="Arial"/>
              </a:defRPr>
            </a:pPr>
            <a:r>
              <a:t>3. عروض البكجات والحزم المغرية (High-Converting Bundles):</a:t>
            </a:r>
          </a:p>
          <a:p>
            <a:pPr algn="r">
              <a:spcBef>
                <a:spcPts val="500"/>
              </a:spcBef>
              <a:defRPr sz="1150" b="0">
                <a:solidFill>
                  <a:srgbClr val="1E293B"/>
                </a:solidFill>
                <a:latin typeface="Arial"/>
              </a:defRPr>
            </a:pPr>
            <a:r>
              <a:t>   • تقديم عرض لا يُقاوم: 'حقيبة يد + محفظة كروت مطابقة مجاناً' أو 'احصلي على خصم 50% على الشنطة الثانية'.</a:t>
            </a:r>
          </a:p>
          <a:p>
            <a:pPr algn="r">
              <a:spcBef>
                <a:spcPts val="500"/>
              </a:spcBef>
              <a:defRPr sz="1150" b="0">
                <a:solidFill>
                  <a:srgbClr val="1E293B"/>
                </a:solidFill>
                <a:latin typeface="Arial"/>
              </a:defRPr>
            </a:pPr>
            <a:r>
              <a:t>   • يرفع هذا متوسط قيمة الطلب (AOV) ويزيد من إدراك القيمة العالية مقابل السعر المدفوع.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9. الحل الثالث (SOP) • استراتيجية وسكريبت التعاقد مع المؤثرين</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lgn="r">
              <a:defRPr sz="1500" b="1">
                <a:solidFill>
                  <a:srgbClr val="0F172A"/>
                </a:solidFill>
                <a:latin typeface="Arial"/>
              </a:defRPr>
            </a:pPr>
            <a:r>
              <a:t>المسار المعتمد: 3 مايكرو إنفلونسرز</a:t>
            </a:r>
          </a:p>
          <a:p>
            <a:pPr algn="r">
              <a:spcBef>
                <a:spcPts val="500"/>
              </a:spcBef>
              <a:defRPr sz="1050">
                <a:solidFill>
                  <a:srgbClr val="1E293B"/>
                </a:solidFill>
                <a:latin typeface="Arial"/>
              </a:defRPr>
            </a:pPr>
            <a:r>
              <a:t>• الفئة المستهدفة: فتيات سعوديات مهتمات بالأزياء والتنسيقات (متابعون: 25k - 70k) في الرياض وجدة.</a:t>
            </a:r>
          </a:p>
          <a:p>
            <a:pPr algn="r">
              <a:spcBef>
                <a:spcPts val="500"/>
              </a:spcBef>
              <a:defRPr sz="1050">
                <a:solidFill>
                  <a:srgbClr val="1E293B"/>
                </a:solidFill>
                <a:latin typeface="Arial"/>
              </a:defRPr>
            </a:pPr>
            <a:r>
              <a:t>• لماذا المايكرو؟ تكلفة منخفضة، مصداقية وتفاعل أعلى بكثير من الحسابات الكبرى، وعفوية مطلقة في الطرح.</a:t>
            </a:r>
          </a:p>
          <a:p>
            <a:pPr algn="r">
              <a:spcBef>
                <a:spcPts val="500"/>
              </a:spcBef>
              <a:defRPr sz="1050">
                <a:solidFill>
                  <a:srgbClr val="1E293B"/>
                </a:solidFill>
                <a:latin typeface="Arial"/>
              </a:defRPr>
            </a:pPr>
            <a:r>
              <a:t>• البديل: التعاقد مع مؤثرة واحدة كبرى (1 Big Tier-1 Influencer) لمنح البراند هالة وجاهة اجتماعية فورية.</a:t>
            </a:r>
          </a:p>
          <a:p>
            <a:pPr algn="r">
              <a:spcBef>
                <a:spcPts val="500"/>
              </a:spcBef>
              <a:defRPr sz="1050">
                <a:solidFill>
                  <a:srgbClr val="1E293B"/>
                </a:solidFill>
                <a:latin typeface="Arial"/>
              </a:defRPr>
            </a:pPr>
            <a:r>
              <a:t>• اشتراطات فيديو الـ Unboxing:</a:t>
            </a:r>
          </a:p>
          <a:p>
            <a:pPr algn="r">
              <a:spcBef>
                <a:spcPts val="500"/>
              </a:spcBef>
              <a:defRPr sz="1050">
                <a:solidFill>
                  <a:srgbClr val="1E293B"/>
                </a:solidFill>
                <a:latin typeface="Arial"/>
              </a:defRPr>
            </a:pPr>
            <a:r>
              <a:t>  - تصوير واقعي بدون فلاتر مشوهة لملمس الجلد الطبيعي.</a:t>
            </a:r>
          </a:p>
          <a:p>
            <a:pPr algn="r">
              <a:spcBef>
                <a:spcPts val="500"/>
              </a:spcBef>
              <a:defRPr sz="1050">
                <a:solidFill>
                  <a:srgbClr val="1E293B"/>
                </a:solidFill>
                <a:latin typeface="Arial"/>
              </a:defRPr>
            </a:pPr>
            <a:r>
              <a:t>  - سماع صوت قفلة 'الكليك' المميزة للقفل.</a:t>
            </a:r>
          </a:p>
          <a:p>
            <a:pPr algn="r">
              <a:spcBef>
                <a:spcPts val="500"/>
              </a:spcBef>
              <a:defRPr sz="1050">
                <a:solidFill>
                  <a:srgbClr val="1E293B"/>
                </a:solidFill>
                <a:latin typeface="Arial"/>
              </a:defRPr>
            </a:pPr>
            <a:r>
              <a:t>  - استعراض لمعان السلسلة المعدنية والبطاقة والبوكس.</a:t>
            </a:r>
          </a:p>
          <a:p>
            <a:pPr algn="r">
              <a:spcBef>
                <a:spcPts val="500"/>
              </a:spcBef>
              <a:defRPr sz="1050">
                <a:solidFill>
                  <a:srgbClr val="1E293B"/>
                </a:solidFill>
                <a:latin typeface="Arial"/>
              </a:defRPr>
            </a:pPr>
            <a:r>
              <a:t>  - تنسيق الشنطة مع لوك كامل (عباية / فستان).</a:t>
            </a:r>
          </a:p>
        </p:txBody>
      </p:sp>
      <p:sp>
        <p:nvSpPr>
          <p:cNvPr id="7" name="Rounded Rectangle 6"/>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lgn="r">
              <a:defRPr sz="1500" b="1">
                <a:solidFill>
                  <a:srgbClr val="B8860B"/>
                </a:solidFill>
                <a:latin typeface="Arial"/>
              </a:defRPr>
            </a:pPr>
            <a:r>
              <a:t>سكريبت التواصل المقترح (DM Script)</a:t>
            </a:r>
          </a:p>
          <a:p>
            <a:pPr algn="r">
              <a:spcBef>
                <a:spcPts val="800"/>
              </a:spcBef>
              <a:defRPr sz="1050">
                <a:solidFill>
                  <a:srgbClr val="1E293B"/>
                </a:solidFill>
                <a:latin typeface="Arial"/>
              </a:defRPr>
            </a:pPr>
            <a:r>
              <a:t>صيغة الرسالة المباشرة (Direct Message):</a:t>
            </a:r>
            <a:br/>
            <a:r>
              <a:t>'أهلاً وسهلاً [الاسم]، مساكِ الله بالخير..</a:t>
            </a:r>
            <a:br/>
            <a:r>
              <a:t>نتشرف بكِ من متجر Clicklock السعودي للحقائب الفاخرة المتقنة 1:1.</a:t>
            </a:r>
            <a:br/>
            <a:r>
              <a:t>معجبين جداً بذوقك الراقي وتنسيقاتك الأنيقة، وحابين نهديكِ إحدى حقائب مجموعتنا الجديدة (Chanel / Hermès) مع كامل ملحقات البوتيك للمعاينة والاستمتاع بتجربتها.</a:t>
            </a:r>
            <a:br/>
            <a:r>
              <a:t>إذا ناسبكِ، يسعدنا مشاركة متابعاتك بتجربة فتح البوكس (Unboxing) واستعراض ملمس الجلد والتفاصيل الفاخرة مع كود خصم خاص بمتابعاتك، بالإضافة لمكافأة تعاون متفق عليها.</a:t>
            </a:r>
            <a:br/>
            <a:r>
              <a:t>بانتظار ردك وتزويدنا بتفاصيل التوصيل لباب بيتكِ خلال 48 ساعة!'</a:t>
            </a:r>
            <a:br/>
            <a:br/>
            <a:r>
              <a:t>• شرط إلزامي: أخذ كود الشراكة الإعلانية (Spark Ads Code) لترويج الفيديو إعلانياً على حساب المتجر.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10. الحل الرابع (SOP) • الدليل التقني لتطهير فيد كتالوج ميتا</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80015" cy="4572000"/>
          </a:xfrm>
          <a:prstGeom prst="rect">
            <a:avLst/>
          </a:prstGeom>
          <a:noFill/>
        </p:spPr>
        <p:txBody>
          <a:bodyPr wrap="square">
            <a:spAutoFit/>
          </a:bodyPr>
          <a:lstStyle/>
          <a:p>
            <a:pPr algn="r">
              <a:defRPr sz="1600" b="1">
                <a:solidFill>
                  <a:srgbClr val="0F172A"/>
                </a:solidFill>
                <a:latin typeface="Arial"/>
              </a:defRPr>
            </a:pPr>
            <a:r>
              <a:t>الدليل الإجرائي لتجاوز حظر إعلانات إنستجرام وفيسبوك (Meta Sanitized Feed SOP):</a:t>
            </a:r>
          </a:p>
          <a:p>
            <a:pPr algn="r">
              <a:spcBef>
                <a:spcPts val="400"/>
              </a:spcBef>
              <a:defRPr sz="1100" b="1">
                <a:solidFill>
                  <a:srgbClr val="0284C7"/>
                </a:solidFill>
                <a:latin typeface="Arial"/>
              </a:defRPr>
            </a:pPr>
            <a:r>
              <a:t>1. تشخيص سبب الحظر السابق:</a:t>
            </a:r>
          </a:p>
          <a:p>
            <a:pPr algn="r">
              <a:spcBef>
                <a:spcPts val="400"/>
              </a:spcBef>
              <a:defRPr sz="1100" b="0">
                <a:solidFill>
                  <a:srgbClr val="1E293B"/>
                </a:solidFill>
                <a:latin typeface="Arial"/>
              </a:defRPr>
            </a:pPr>
            <a:r>
              <a:t>   • خوارزميات ميتا تفحص تلقائياً نصوص العناوين وروابط المنتجات (URLs). وجود كلمات مثل (Chanel, Dior, LV, Hermes) يؤدي لرفض الكتالوج بدعوى انتهاك العلامات التجارية والملكية الفكرية.</a:t>
            </a:r>
          </a:p>
          <a:p>
            <a:pPr algn="r">
              <a:spcBef>
                <a:spcPts val="400"/>
              </a:spcBef>
              <a:defRPr sz="1100" b="1">
                <a:solidFill>
                  <a:srgbClr val="0284C7"/>
                </a:solidFill>
                <a:latin typeface="Arial"/>
              </a:defRPr>
            </a:pPr>
            <a:r>
              <a:t>2. خطوات إنشاء الفيد النظيف من لوحة تحكم سلة:</a:t>
            </a:r>
          </a:p>
          <a:p>
            <a:pPr algn="r">
              <a:spcBef>
                <a:spcPts val="400"/>
              </a:spcBef>
              <a:defRPr sz="1100" b="0">
                <a:solidFill>
                  <a:srgbClr val="1E293B"/>
                </a:solidFill>
                <a:latin typeface="Arial"/>
              </a:defRPr>
            </a:pPr>
            <a:r>
              <a:t>   • الدخول إلى: سلة ➔ قنوات البيع ➔ فيد المنتجات ➔ إنشاء فيد مخصص لـ Meta (مستقل عن المتجر).</a:t>
            </a:r>
          </a:p>
          <a:p>
            <a:pPr algn="r">
              <a:spcBef>
                <a:spcPts val="400"/>
              </a:spcBef>
              <a:defRPr sz="1100" b="0">
                <a:solidFill>
                  <a:srgbClr val="1E293B"/>
                </a:solidFill>
                <a:latin typeface="Arial"/>
              </a:defRPr>
            </a:pPr>
            <a:r>
              <a:t>   • تطهير الروابط (URL Cleansing): التأكد من أن رابط المنتج (URL Slug) لا يحتوي على أسماء الماركات المحمية:</a:t>
            </a:r>
          </a:p>
          <a:p>
            <a:pPr algn="r">
              <a:spcBef>
                <a:spcPts val="400"/>
              </a:spcBef>
              <a:defRPr sz="1100" b="0">
                <a:solidFill>
                  <a:srgbClr val="1E293B"/>
                </a:solidFill>
                <a:latin typeface="Arial"/>
              </a:defRPr>
            </a:pPr>
            <a:r>
              <a:t>     - بدلاً من: clicklock.sa/products/chanel-classic-flap-25</a:t>
            </a:r>
          </a:p>
          <a:p>
            <a:pPr algn="r">
              <a:spcBef>
                <a:spcPts val="400"/>
              </a:spcBef>
              <a:defRPr sz="1100" b="0">
                <a:solidFill>
                  <a:srgbClr val="1E293B"/>
                </a:solidFill>
                <a:latin typeface="Arial"/>
              </a:defRPr>
            </a:pPr>
            <a:r>
              <a:t>     - يتم اعتماد: clicklock.sa/products/cl-luxury-quilted-flap-25</a:t>
            </a:r>
          </a:p>
          <a:p>
            <a:pPr algn="r">
              <a:spcBef>
                <a:spcPts val="400"/>
              </a:spcBef>
              <a:defRPr sz="1100" b="0">
                <a:solidFill>
                  <a:srgbClr val="1E293B"/>
                </a:solidFill>
                <a:latin typeface="Arial"/>
              </a:defRPr>
            </a:pPr>
            <a:r>
              <a:t>   • تطهير العناوين في الفيد (Title Cleansing): استبدال أسماء الماركات بمسميات فاخرة بديلة:</a:t>
            </a:r>
          </a:p>
          <a:p>
            <a:pPr algn="r">
              <a:spcBef>
                <a:spcPts val="400"/>
              </a:spcBef>
              <a:defRPr sz="1100" b="0">
                <a:solidFill>
                  <a:srgbClr val="1E293B"/>
                </a:solidFill>
                <a:latin typeface="Arial"/>
              </a:defRPr>
            </a:pPr>
            <a:r>
              <a:t>     - استخدام: 'حقيبة كتف كلاسيكية مبطنة بجلد الكافيار' بدلاً من كلمة شانيل.</a:t>
            </a:r>
          </a:p>
          <a:p>
            <a:pPr algn="r">
              <a:spcBef>
                <a:spcPts val="400"/>
              </a:spcBef>
              <a:defRPr sz="1100" b="0">
                <a:solidFill>
                  <a:srgbClr val="1E293B"/>
                </a:solidFill>
                <a:latin typeface="Arial"/>
              </a:defRPr>
            </a:pPr>
            <a:r>
              <a:t>     - استخدام: 'حقيبة كروسبودي عصرية متعددة الملحقات' بدلاً من ملتي باس لوي فيتون.</a:t>
            </a:r>
          </a:p>
          <a:p>
            <a:pPr algn="r">
              <a:spcBef>
                <a:spcPts val="400"/>
              </a:spcBef>
              <a:defRPr sz="1100" b="1">
                <a:solidFill>
                  <a:srgbClr val="0284C7"/>
                </a:solidFill>
                <a:latin typeface="Arial"/>
              </a:defRPr>
            </a:pPr>
            <a:r>
              <a:t>3. الربط والتشغيل في Meta Commerce Manager:</a:t>
            </a:r>
          </a:p>
          <a:p>
            <a:pPr algn="r">
              <a:spcBef>
                <a:spcPts val="400"/>
              </a:spcBef>
              <a:defRPr sz="1100" b="0">
                <a:solidFill>
                  <a:srgbClr val="1E293B"/>
                </a:solidFill>
                <a:latin typeface="Arial"/>
              </a:defRPr>
            </a:pPr>
            <a:r>
              <a:t>   • رفع رابط الفيد الجديد في مدير المعاملات التجارية بميتا ➔ اعتماد الكتالوج ➔ إطلاق حملات Advantage+ Catalog وإعادة استهداف زوار السلة (Retargeting) بأمان تام وبدون أي حظر.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11. الحل الخامس (SOP) • بروتوكول جلسة تصوير الموديل وتوحيد الخلفيات</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80015" cy="4572000"/>
          </a:xfrm>
          <a:prstGeom prst="rect">
            <a:avLst/>
          </a:prstGeom>
          <a:noFill/>
        </p:spPr>
        <p:txBody>
          <a:bodyPr wrap="square">
            <a:spAutoFit/>
          </a:bodyPr>
          <a:lstStyle/>
          <a:p>
            <a:pPr algn="r">
              <a:defRPr sz="1600" b="1">
                <a:solidFill>
                  <a:srgbClr val="0F172A"/>
                </a:solidFill>
                <a:latin typeface="Arial"/>
              </a:defRPr>
            </a:pPr>
            <a:r>
              <a:t>بروتوكول تصوير المنتجات والمعايير البصرية (Visual Photography Standards):</a:t>
            </a:r>
          </a:p>
          <a:p>
            <a:pPr algn="r">
              <a:spcBef>
                <a:spcPts val="400"/>
              </a:spcBef>
              <a:defRPr sz="1100" b="1">
                <a:solidFill>
                  <a:srgbClr val="B8860B"/>
                </a:solidFill>
                <a:latin typeface="Arial"/>
              </a:defRPr>
            </a:pPr>
            <a:r>
              <a:t>1. توحيد خلفيات الموقع بالكامل (Studio Background):</a:t>
            </a:r>
          </a:p>
          <a:p>
            <a:pPr algn="r">
              <a:spcBef>
                <a:spcPts val="400"/>
              </a:spcBef>
              <a:defRPr sz="1100" b="0">
                <a:solidFill>
                  <a:srgbClr val="1E293B"/>
                </a:solidFill>
                <a:latin typeface="Arial"/>
              </a:defRPr>
            </a:pPr>
            <a:r>
              <a:t>   • اعتماد خلفية استوديو واحدة ومحايدة ودافئة (Warm Minimalist Studio - بيج هادئ فاخر أو رمادي رخامي ناعم) لكافة المنتجات.</a:t>
            </a:r>
          </a:p>
          <a:p>
            <a:pPr algn="r">
              <a:spcBef>
                <a:spcPts val="400"/>
              </a:spcBef>
              <a:defRPr sz="1100" b="0">
                <a:solidFill>
                  <a:srgbClr val="1E293B"/>
                </a:solidFill>
                <a:latin typeface="Arial"/>
              </a:defRPr>
            </a:pPr>
            <a:r>
              <a:t>   • إزالة أي صور خارجية مستوردة من الموردين تبدو بإضاءات متضاربة أو خلفيات بيضاء باهتة.</a:t>
            </a:r>
          </a:p>
          <a:p>
            <a:pPr algn="r">
              <a:spcBef>
                <a:spcPts val="400"/>
              </a:spcBef>
              <a:defRPr sz="1100" b="1">
                <a:solidFill>
                  <a:srgbClr val="B8860B"/>
                </a:solidFill>
                <a:latin typeface="Arial"/>
              </a:defRPr>
            </a:pPr>
            <a:r>
              <a:t>2. إلزامية صورة الموديل لكل منتج (Mandatory On-Model Shot):</a:t>
            </a:r>
          </a:p>
          <a:p>
            <a:pPr algn="r">
              <a:spcBef>
                <a:spcPts val="400"/>
              </a:spcBef>
              <a:defRPr sz="1100" b="0">
                <a:solidFill>
                  <a:srgbClr val="1E293B"/>
                </a:solidFill>
                <a:latin typeface="Arial"/>
              </a:defRPr>
            </a:pPr>
            <a:r>
              <a:t>   • يجب أن تحتوي كل صفحة منتج على الأقل على صورة واحدة لعارضة ترتدي الشنطة (كتف / يد / كروس).</a:t>
            </a:r>
          </a:p>
          <a:p>
            <a:pPr algn="r">
              <a:spcBef>
                <a:spcPts val="400"/>
              </a:spcBef>
              <a:defRPr sz="1100" b="0">
                <a:solidFill>
                  <a:srgbClr val="1E293B"/>
                </a:solidFill>
                <a:latin typeface="Arial"/>
              </a:defRPr>
            </a:pPr>
            <a:r>
              <a:t>   • الهدف: إظهار الحجم الحقيقي مقارنة بالجسم والعباية (Scale &amp; Proportion)، ومساعدة العميلة على تخيل تنسيقها مع إطلالتها اليومية.</a:t>
            </a:r>
          </a:p>
          <a:p>
            <a:pPr algn="r">
              <a:spcBef>
                <a:spcPts val="400"/>
              </a:spcBef>
              <a:defRPr sz="1100" b="1">
                <a:solidFill>
                  <a:srgbClr val="B8860B"/>
                </a:solidFill>
                <a:latin typeface="Arial"/>
              </a:defRPr>
            </a:pPr>
            <a:r>
              <a:t>3. زوايا اللقطات الخمسة الإلزامية لكل حقيبة:</a:t>
            </a:r>
          </a:p>
          <a:p>
            <a:pPr algn="r">
              <a:spcBef>
                <a:spcPts val="400"/>
              </a:spcBef>
              <a:defRPr sz="1100" b="0">
                <a:solidFill>
                  <a:srgbClr val="1E293B"/>
                </a:solidFill>
                <a:latin typeface="Arial"/>
              </a:defRPr>
            </a:pPr>
            <a:r>
              <a:t>   • اللقطة 1: واجهة أمامية كاملة توضح هيكل الشنطة واستقامتها.</a:t>
            </a:r>
          </a:p>
          <a:p>
            <a:pPr algn="r">
              <a:spcBef>
                <a:spcPts val="400"/>
              </a:spcBef>
              <a:defRPr sz="1100" b="0">
                <a:solidFill>
                  <a:srgbClr val="1E293B"/>
                </a:solidFill>
                <a:latin typeface="Arial"/>
              </a:defRPr>
            </a:pPr>
            <a:r>
              <a:t>   • اللقطة 2: زاوية جانبية (Side Profile) تبيّن عمق الحقيبة وجودة الخياطة الجانبية.</a:t>
            </a:r>
          </a:p>
          <a:p>
            <a:pPr algn="r">
              <a:spcBef>
                <a:spcPts val="400"/>
              </a:spcBef>
              <a:defRPr sz="1100" b="0">
                <a:solidFill>
                  <a:srgbClr val="1E293B"/>
                </a:solidFill>
                <a:latin typeface="Arial"/>
              </a:defRPr>
            </a:pPr>
            <a:r>
              <a:t>   • اللقطة 3: زووم ماكرو مقرب للقفل المعدني (Hardware) يبرز وزنه ولمعانه ودقة الحفر.</a:t>
            </a:r>
          </a:p>
          <a:p>
            <a:pPr algn="r">
              <a:spcBef>
                <a:spcPts val="400"/>
              </a:spcBef>
              <a:defRPr sz="1100" b="0">
                <a:solidFill>
                  <a:srgbClr val="1E293B"/>
                </a:solidFill>
                <a:latin typeface="Arial"/>
              </a:defRPr>
            </a:pPr>
            <a:r>
              <a:t>   • اللقطة 4: الحقيبة مفتوحة من الداخل تظهر سعة البطانة، الجيوب، والأغراض الشخصية.</a:t>
            </a:r>
          </a:p>
          <a:p>
            <a:pPr algn="r">
              <a:spcBef>
                <a:spcPts val="400"/>
              </a:spcBef>
              <a:defRPr sz="1100" b="0">
                <a:solidFill>
                  <a:srgbClr val="1E293B"/>
                </a:solidFill>
                <a:latin typeface="Arial"/>
              </a:defRPr>
            </a:pPr>
            <a:r>
              <a:t>   • اللقطة 5: صورة الموديل (Lifestyle Outfit Shot) مع إطلالة أنيقة.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12. مصفوفة تسليم المهام وخريطة الـ 30 يوماً (Action Matrix)</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10728655" cy="89611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81328"/>
            <a:ext cx="10362895" cy="685800"/>
          </a:xfrm>
          <a:prstGeom prst="rect">
            <a:avLst/>
          </a:prstGeom>
          <a:noFill/>
        </p:spPr>
        <p:txBody>
          <a:bodyPr wrap="square">
            <a:spAutoFit/>
          </a:bodyPr>
          <a:lstStyle/>
          <a:p>
            <a:pPr algn="r">
              <a:defRPr sz="1250" b="1">
                <a:solidFill>
                  <a:srgbClr val="DC2626"/>
                </a:solidFill>
                <a:latin typeface="Arial"/>
              </a:defRPr>
            </a:pPr>
            <a:r>
              <a:t>[أولوية 1]  تحديث واجهة الهيرو وإبراز عناصر الثقة وتمارا   |   الأثر: عالي جداً (High)   |   الجهد: منخفض (2-3 ساعات)</a:t>
            </a:r>
          </a:p>
          <a:p>
            <a:pPr algn="r">
              <a:spcBef>
                <a:spcPts val="300"/>
              </a:spcBef>
              <a:defRPr sz="1100">
                <a:solidFill>
                  <a:srgbClr val="1E293B"/>
                </a:solidFill>
                <a:latin typeface="Arial"/>
              </a:defRPr>
            </a:pPr>
            <a:r>
              <a:t>المدى الزمني: خلال 48 ساعة   |   المسؤول التنفيذي المقترح: مطور ثيم سلة / المصمم</a:t>
            </a:r>
          </a:p>
        </p:txBody>
      </p:sp>
      <p:sp>
        <p:nvSpPr>
          <p:cNvPr id="7" name="Rounded Rectangle 6"/>
          <p:cNvSpPr/>
          <p:nvPr/>
        </p:nvSpPr>
        <p:spPr>
          <a:xfrm>
            <a:off x="731520" y="2359152"/>
            <a:ext cx="10728655" cy="89611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68880"/>
            <a:ext cx="10362895" cy="685800"/>
          </a:xfrm>
          <a:prstGeom prst="rect">
            <a:avLst/>
          </a:prstGeom>
          <a:noFill/>
        </p:spPr>
        <p:txBody>
          <a:bodyPr wrap="square">
            <a:spAutoFit/>
          </a:bodyPr>
          <a:lstStyle/>
          <a:p>
            <a:pPr algn="r">
              <a:defRPr sz="1250" b="1">
                <a:solidFill>
                  <a:srgbClr val="DC2626"/>
                </a:solidFill>
                <a:latin typeface="Arial"/>
              </a:defRPr>
            </a:pPr>
            <a:r>
              <a:t>[أولوية 2]  إطلاق الكتالوج النظيف وتفعيل إعلانات ميتا (Instagram)   |   الأثر: عالي جداً (High)   |   الجهد: متوسط (يومان عمل)</a:t>
            </a:r>
          </a:p>
          <a:p>
            <a:pPr algn="r">
              <a:spcBef>
                <a:spcPts val="300"/>
              </a:spcBef>
              <a:defRPr sz="1100">
                <a:solidFill>
                  <a:srgbClr val="1E293B"/>
                </a:solidFill>
                <a:latin typeface="Arial"/>
              </a:defRPr>
            </a:pPr>
            <a:r>
              <a:t>المدى الزمني: الأسبوع الأول   |   المسؤول التنفيذي المقترح: مسؤول الحملات الإعلانية</a:t>
            </a:r>
          </a:p>
        </p:txBody>
      </p:sp>
      <p:sp>
        <p:nvSpPr>
          <p:cNvPr id="9" name="Rounded Rectangle 8"/>
          <p:cNvSpPr/>
          <p:nvPr/>
        </p:nvSpPr>
        <p:spPr>
          <a:xfrm>
            <a:off x="731520" y="3346704"/>
            <a:ext cx="10728655" cy="89611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56432"/>
            <a:ext cx="10362895" cy="685800"/>
          </a:xfrm>
          <a:prstGeom prst="rect">
            <a:avLst/>
          </a:prstGeom>
          <a:noFill/>
        </p:spPr>
        <p:txBody>
          <a:bodyPr wrap="square">
            <a:spAutoFit/>
          </a:bodyPr>
          <a:lstStyle/>
          <a:p>
            <a:pPr algn="r">
              <a:defRPr sz="1250" b="1">
                <a:solidFill>
                  <a:srgbClr val="B8860B"/>
                </a:solidFill>
                <a:latin typeface="Arial"/>
              </a:defRPr>
            </a:pPr>
            <a:r>
              <a:t>[أولوية 3]  تفعيل كود الخصم الترحيبي (FIRST10) وعروض البكجات   |   الأثر: عالي (High)   |   الجهد: منخفض (فوري)</a:t>
            </a:r>
          </a:p>
          <a:p>
            <a:pPr algn="r">
              <a:spcBef>
                <a:spcPts val="300"/>
              </a:spcBef>
              <a:defRPr sz="1100">
                <a:solidFill>
                  <a:srgbClr val="1E293B"/>
                </a:solidFill>
                <a:latin typeface="Arial"/>
              </a:defRPr>
            </a:pPr>
            <a:r>
              <a:t>المدى الزمني: خلال 24 ساعة   |   المسؤول التنفيذي المقترح: مدير المتجر التجاري</a:t>
            </a:r>
          </a:p>
        </p:txBody>
      </p:sp>
      <p:sp>
        <p:nvSpPr>
          <p:cNvPr id="11" name="Rounded Rectangle 10"/>
          <p:cNvSpPr/>
          <p:nvPr/>
        </p:nvSpPr>
        <p:spPr>
          <a:xfrm>
            <a:off x="731520" y="4334256"/>
            <a:ext cx="10728655" cy="89611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43984"/>
            <a:ext cx="10362895" cy="685800"/>
          </a:xfrm>
          <a:prstGeom prst="rect">
            <a:avLst/>
          </a:prstGeom>
          <a:noFill/>
        </p:spPr>
        <p:txBody>
          <a:bodyPr wrap="square">
            <a:spAutoFit/>
          </a:bodyPr>
          <a:lstStyle/>
          <a:p>
            <a:pPr algn="r">
              <a:defRPr sz="1250" b="1">
                <a:solidFill>
                  <a:srgbClr val="B8860B"/>
                </a:solidFill>
                <a:latin typeface="Arial"/>
              </a:defRPr>
            </a:pPr>
            <a:r>
              <a:t>[أولوية 4]  جلسة تصوير الموديل (On-Model) وتوحيد خلفيات الكتالوج   |   الأثر: عالي جداً (High)   |   الجهد: متوسط (3-5 أيام)</a:t>
            </a:r>
          </a:p>
          <a:p>
            <a:pPr algn="r">
              <a:spcBef>
                <a:spcPts val="300"/>
              </a:spcBef>
              <a:defRPr sz="1100">
                <a:solidFill>
                  <a:srgbClr val="1E293B"/>
                </a:solidFill>
                <a:latin typeface="Arial"/>
              </a:defRPr>
            </a:pPr>
            <a:r>
              <a:t>المدى الزمني: الأسبوع الثاني   |   المسؤول التنفيذي المقترح: فريق المحتوى والتصوير</a:t>
            </a:r>
          </a:p>
        </p:txBody>
      </p:sp>
      <p:sp>
        <p:nvSpPr>
          <p:cNvPr id="13" name="Rounded Rectangle 12"/>
          <p:cNvSpPr/>
          <p:nvPr/>
        </p:nvSpPr>
        <p:spPr>
          <a:xfrm>
            <a:off x="731520" y="5321808"/>
            <a:ext cx="10728655" cy="89611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31536"/>
            <a:ext cx="10362895" cy="685800"/>
          </a:xfrm>
          <a:prstGeom prst="rect">
            <a:avLst/>
          </a:prstGeom>
          <a:noFill/>
        </p:spPr>
        <p:txBody>
          <a:bodyPr wrap="square">
            <a:spAutoFit/>
          </a:bodyPr>
          <a:lstStyle/>
          <a:p>
            <a:pPr algn="r">
              <a:defRPr sz="1250" b="1">
                <a:solidFill>
                  <a:srgbClr val="10B981"/>
                </a:solidFill>
                <a:latin typeface="Arial"/>
              </a:defRPr>
            </a:pPr>
            <a:r>
              <a:t>[أولوية 5]  التعاقد مع 3 مايكرو إنفلونسرز وإطلاق فيديوهات الـ Unboxing   |   الأثر: عالي جداً (High)   |   الجهد: متوسط (أسبوع - 10 أيام)</a:t>
            </a:r>
          </a:p>
          <a:p>
            <a:pPr algn="r">
              <a:spcBef>
                <a:spcPts val="300"/>
              </a:spcBef>
              <a:defRPr sz="1100">
                <a:solidFill>
                  <a:srgbClr val="1E293B"/>
                </a:solidFill>
                <a:latin typeface="Arial"/>
              </a:defRPr>
            </a:pPr>
            <a:r>
              <a:t>المدى الزمني: الأسبوع 2 و 3   |   المسؤول التنفيذي المقترح: العلاقات العامة والتسويق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13. فهرس حزمة البراند براين والملفات المسلمة (Handover Inventory)</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7315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lgn="r">
              <a:defRPr sz="1500" b="1">
                <a:solidFill>
                  <a:srgbClr val="0F172A"/>
                </a:solidFill>
                <a:latin typeface="Arial"/>
              </a:defRPr>
            </a:pPr>
            <a:r>
              <a:t>1. الملفات التشغيلية والبيانات الخام</a:t>
            </a:r>
          </a:p>
          <a:p>
            <a:pPr algn="r">
              <a:spcBef>
                <a:spcPts val="600"/>
              </a:spcBef>
              <a:defRPr sz="1050">
                <a:solidFill>
                  <a:srgbClr val="1E293B"/>
                </a:solidFill>
                <a:latin typeface="Arial"/>
              </a:defRPr>
            </a:pPr>
            <a:r>
              <a:t>• تقرير إعلانات تيك توك الخام: Tiktok Ads_a2z report sep26.xlsx</a:t>
            </a:r>
          </a:p>
          <a:p>
            <a:pPr algn="r">
              <a:spcBef>
                <a:spcPts val="600"/>
              </a:spcBef>
              <a:defRPr sz="1050">
                <a:solidFill>
                  <a:srgbClr val="1E293B"/>
                </a:solidFill>
                <a:latin typeface="Arial"/>
              </a:defRPr>
            </a:pPr>
            <a:r>
              <a:t>• تقرير إعلانات سناب شات الخام: e06139e2-ffa7-4635-8057.xlsx</a:t>
            </a:r>
          </a:p>
          <a:p>
            <a:pPr algn="r">
              <a:spcBef>
                <a:spcPts val="600"/>
              </a:spcBef>
              <a:defRPr sz="1050">
                <a:solidFill>
                  <a:srgbClr val="1E293B"/>
                </a:solidFill>
                <a:latin typeface="Arial"/>
              </a:defRPr>
            </a:pPr>
            <a:r>
              <a:t>• دراسة المنافسين وسلوك السوق: تحليل منافسين متجر Clicklock.docx</a:t>
            </a:r>
          </a:p>
          <a:p>
            <a:pPr algn="r">
              <a:spcBef>
                <a:spcPts val="600"/>
              </a:spcBef>
              <a:defRPr sz="1050">
                <a:solidFill>
                  <a:srgbClr val="1E293B"/>
                </a:solidFill>
                <a:latin typeface="Arial"/>
              </a:defRPr>
            </a:pPr>
            <a:r>
              <a:t>• براند بوك الهوية الفاخرة: Clicklock .pdf</a:t>
            </a:r>
          </a:p>
          <a:p>
            <a:pPr algn="r">
              <a:spcBef>
                <a:spcPts val="600"/>
              </a:spcBef>
              <a:defRPr sz="1050">
                <a:solidFill>
                  <a:srgbClr val="1E293B"/>
                </a:solidFill>
                <a:latin typeface="Arial"/>
              </a:defRPr>
            </a:pPr>
            <a:r>
              <a:t>• تقرير تدقيق الأداء الربع سنوي: MCAQ2-2026.pdf</a:t>
            </a:r>
          </a:p>
          <a:p>
            <a:pPr algn="r">
              <a:spcBef>
                <a:spcPts val="600"/>
              </a:spcBef>
              <a:defRPr sz="1050">
                <a:solidFill>
                  <a:srgbClr val="1E293B"/>
                </a:solidFill>
                <a:latin typeface="Arial"/>
              </a:defRPr>
            </a:pPr>
            <a:r>
              <a:t>• حزمة الشعارات بدقة عالية: CLICKLOCK logo (PNG, WebP) و شعار الوكالة.</a:t>
            </a:r>
          </a:p>
          <a:p>
            <a:pPr algn="r">
              <a:spcBef>
                <a:spcPts val="600"/>
              </a:spcBef>
              <a:defRPr sz="1050">
                <a:solidFill>
                  <a:srgbClr val="1E293B"/>
                </a:solidFill>
                <a:latin typeface="Arial"/>
              </a:defRPr>
            </a:pPr>
            <a:r>
              <a:t>• لوحة العرض التفاعلية: Clicklock_Ad_Performance_Report.html</a:t>
            </a:r>
          </a:p>
          <a:p>
            <a:pPr algn="r">
              <a:spcBef>
                <a:spcPts val="600"/>
              </a:spcBef>
              <a:defRPr sz="1050">
                <a:solidFill>
                  <a:srgbClr val="1E293B"/>
                </a:solidFill>
                <a:latin typeface="Arial"/>
              </a:defRPr>
            </a:pPr>
            <a:r>
              <a:t>• الوثيقة التوثيقية الشاملة: clicklock_performance_report.md</a:t>
            </a:r>
          </a:p>
        </p:txBody>
      </p:sp>
      <p:sp>
        <p:nvSpPr>
          <p:cNvPr id="7" name="Rounded Rectangle 6"/>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lgn="r">
              <a:defRPr sz="1500" b="1">
                <a:solidFill>
                  <a:srgbClr val="B8860B"/>
                </a:solidFill>
                <a:latin typeface="Arial"/>
              </a:defRPr>
            </a:pPr>
            <a:r>
              <a:t>2. مكتبة الـ Brand Brain (17 مجلداً و 84 ملفاً)</a:t>
            </a:r>
          </a:p>
          <a:p>
            <a:pPr algn="r">
              <a:spcBef>
                <a:spcPts val="500"/>
              </a:spcBef>
              <a:defRPr sz="1050">
                <a:solidFill>
                  <a:srgbClr val="1E293B"/>
                </a:solidFill>
                <a:latin typeface="Arial"/>
              </a:defRPr>
            </a:pPr>
            <a:r>
              <a:t>• 01_The_Brand: الهوية، التموضع، وقواعد الادعاءات والمحظورات.</a:t>
            </a:r>
          </a:p>
          <a:p>
            <a:pPr algn="r">
              <a:spcBef>
                <a:spcPts val="500"/>
              </a:spcBef>
              <a:defRPr sz="1050">
                <a:solidFill>
                  <a:srgbClr val="1E293B"/>
                </a:solidFill>
                <a:latin typeface="Arial"/>
              </a:defRPr>
            </a:pPr>
            <a:r>
              <a:t>• 02_The_Customer: مراجعات العملاء، تعليقات الإعلانات، وفوبيا الافتضاح.</a:t>
            </a:r>
          </a:p>
          <a:p>
            <a:pPr algn="r">
              <a:spcBef>
                <a:spcPts val="500"/>
              </a:spcBef>
              <a:defRPr sz="1050">
                <a:solidFill>
                  <a:srgbClr val="1E293B"/>
                </a:solidFill>
                <a:latin typeface="Arial"/>
              </a:defRPr>
            </a:pPr>
            <a:r>
              <a:t>• 03_Personas: شخصيات العميلات، نبرة العميل (VOC)، والكلمات الممنوعة.</a:t>
            </a:r>
          </a:p>
          <a:p>
            <a:pPr algn="r">
              <a:spcBef>
                <a:spcPts val="500"/>
              </a:spcBef>
              <a:defRPr sz="1050">
                <a:solidFill>
                  <a:srgbClr val="1E293B"/>
                </a:solidFill>
                <a:latin typeface="Arial"/>
              </a:defRPr>
            </a:pPr>
            <a:r>
              <a:t>• 04_The_Account: هيكلة الصرف (300 ر.س/يوم)، مستهدفات CPA و ROAS.</a:t>
            </a:r>
          </a:p>
          <a:p>
            <a:pPr algn="r">
              <a:spcBef>
                <a:spcPts val="500"/>
              </a:spcBef>
              <a:defRPr sz="1050">
                <a:solidFill>
                  <a:srgbClr val="1E293B"/>
                </a:solidFill>
                <a:latin typeface="Arial"/>
              </a:defRPr>
            </a:pPr>
            <a:r>
              <a:t>• 05_The_Competition: قائمة المنافسين، إعلاناتهم، ولغة عملائهم.</a:t>
            </a:r>
          </a:p>
          <a:p>
            <a:pPr algn="r">
              <a:spcBef>
                <a:spcPts val="500"/>
              </a:spcBef>
              <a:defRPr sz="1050">
                <a:solidFill>
                  <a:srgbClr val="1E293B"/>
                </a:solidFill>
                <a:latin typeface="Arial"/>
              </a:defRPr>
            </a:pPr>
            <a:r>
              <a:t>• 06_Audits &amp; 07_Loops: المراجعة الأسبوعية وسجل الفرضيات النشطة.</a:t>
            </a:r>
          </a:p>
          <a:p>
            <a:pPr algn="r">
              <a:spcBef>
                <a:spcPts val="500"/>
              </a:spcBef>
              <a:defRPr sz="1050">
                <a:solidFill>
                  <a:srgbClr val="1E293B"/>
                </a:solidFill>
                <a:latin typeface="Arial"/>
              </a:defRPr>
            </a:pPr>
            <a:r>
              <a:t>• 08_Strategy &amp; 11_Briefing: خارطة الطريق وبريفات التصوير المفصلة.</a:t>
            </a:r>
          </a:p>
          <a:p>
            <a:pPr algn="r">
              <a:spcBef>
                <a:spcPts val="500"/>
              </a:spcBef>
              <a:defRPr sz="1050">
                <a:solidFill>
                  <a:srgbClr val="1E293B"/>
                </a:solidFill>
                <a:latin typeface="Arial"/>
              </a:defRPr>
            </a:pPr>
            <a:r>
              <a:t>• 12_Hooks_and_Scripts: مكتبة الـ 35+ خطاف وبروفايل صوت البراند.</a:t>
            </a:r>
          </a:p>
          <a:p>
            <a:pPr algn="r">
              <a:spcBef>
                <a:spcPts val="500"/>
              </a:spcBef>
              <a:defRPr sz="1050">
                <a:solidFill>
                  <a:srgbClr val="1E293B"/>
                </a:solidFill>
                <a:latin typeface="Arial"/>
              </a:defRPr>
            </a:pPr>
            <a:r>
              <a:t>• 13_AI_Creative &amp; 15_Quality_Gates: برومبتات AI وبوابات الجودة الخمسة.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lgn="r">
              <a:defRPr sz="1000" b="1">
                <a:solidFill>
                  <a:srgbClr val="B8860B"/>
                </a:solidFill>
                <a:latin typeface="Arial"/>
              </a:defRPr>
            </a:pPr>
            <a:r>
              <a:t>CLICKLOCK × A TO Z AGENCY | HANDOVER BLUEPRINT</a:t>
            </a:r>
          </a:p>
        </p:txBody>
      </p:sp>
      <p:sp>
        <p:nvSpPr>
          <p:cNvPr id="3" name="TextBox 2"/>
          <p:cNvSpPr txBox="1"/>
          <p:nvPr/>
        </p:nvSpPr>
        <p:spPr>
          <a:xfrm>
            <a:off x="731520" y="685800"/>
            <a:ext cx="10728655" cy="594360"/>
          </a:xfrm>
          <a:prstGeom prst="rect">
            <a:avLst/>
          </a:prstGeom>
          <a:noFill/>
        </p:spPr>
        <p:txBody>
          <a:bodyPr wrap="square" lIns="0" tIns="0" rIns="0" bIns="0">
            <a:spAutoFit/>
          </a:bodyPr>
          <a:lstStyle/>
          <a:p>
            <a:pPr algn="r">
              <a:defRPr sz="2200" b="1">
                <a:solidFill>
                  <a:srgbClr val="0F172A"/>
                </a:solidFill>
                <a:latin typeface="Arial"/>
              </a:defRPr>
            </a:pPr>
            <a:r>
              <a:t>14. توصيات الإطلاق الختامية وجاهزية الفريق القادم (Closing Governance)</a:t>
            </a:r>
          </a:p>
        </p:txBody>
      </p:sp>
      <p:pic>
        <p:nvPicPr>
          <p:cNvPr id="4" name="Picture 3" descr="CLICKLOCK logo.png.png"/>
          <p:cNvPicPr>
            <a:picLocks noChangeAspect="1"/>
          </p:cNvPicPr>
          <p:nvPr/>
        </p:nvPicPr>
        <p:blipFill>
          <a:blip r:embed="rId2"/>
          <a:stretch>
            <a:fillRect/>
          </a:stretch>
        </p:blipFill>
        <p:spPr>
          <a:xfrm>
            <a:off x="731520" y="347472"/>
            <a:ext cx="1371600" cy="1714602"/>
          </a:xfrm>
          <a:prstGeom prst="rect">
            <a:avLst/>
          </a:prstGeom>
        </p:spPr>
      </p:pic>
      <p:sp>
        <p:nvSpPr>
          <p:cNvPr id="5" name="Rounded Rectangle 4"/>
          <p:cNvSpPr/>
          <p:nvPr/>
        </p:nvSpPr>
        <p:spPr>
          <a:xfrm>
            <a:off x="1097280" y="1463040"/>
            <a:ext cx="9997135" cy="4663440"/>
          </a:xfrm>
          <a:prstGeom prst="roundRect">
            <a:avLst/>
          </a:prstGeom>
          <a:solidFill>
            <a:srgbClr val="FFFFF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1737360"/>
            <a:ext cx="9265615" cy="4114800"/>
          </a:xfrm>
          <a:prstGeom prst="rect">
            <a:avLst/>
          </a:prstGeom>
          <a:noFill/>
        </p:spPr>
        <p:txBody>
          <a:bodyPr wrap="square">
            <a:spAutoFit/>
          </a:bodyPr>
          <a:lstStyle/>
          <a:p>
            <a:pPr algn="ctr">
              <a:defRPr sz="1800" b="1">
                <a:solidFill>
                  <a:srgbClr val="0F172A"/>
                </a:solidFill>
                <a:latin typeface="Arial"/>
              </a:defRPr>
            </a:pPr>
            <a:r>
              <a:t>رسالة ختامية من فريق وكالة A to Z Advertising Agency:</a:t>
            </a:r>
          </a:p>
          <a:p>
            <a:pPr algn="ctr">
              <a:spcBef>
                <a:spcPts val="1200"/>
              </a:spcBef>
              <a:defRPr sz="1200">
                <a:solidFill>
                  <a:srgbClr val="1E293B"/>
                </a:solidFill>
                <a:latin typeface="Arial"/>
              </a:defRPr>
            </a:pPr>
            <a:r>
              <a:t>نسلمكم اليوم حساباتكم الإعلانية وأصول متجر Clicklock.sa برؤية رقمية واضحة ومبنية على أرقام وحقائق السوق السعودي.</a:t>
            </a:r>
          </a:p>
          <a:p>
            <a:pPr algn="ctr">
              <a:spcBef>
                <a:spcPts val="1200"/>
              </a:spcBef>
              <a:defRPr sz="1200">
                <a:solidFill>
                  <a:srgbClr val="1E293B"/>
                </a:solidFill>
                <a:latin typeface="Arial"/>
              </a:defRPr>
            </a:pPr>
            <a:r>
              <a:t>لقد أثبتت الحملات بجلاء أن المنتج مرغوب بشدة، وأن الإعلانات قادرة على توليد حركة مرور نسائية ضخمة وسلات تسوق وبدء دفع بتكاليف رخيصة وتنافسية (39 هللة للنقرة بسناب شات و 71 ريال لكل عملية بدء دفع).</a:t>
            </a:r>
          </a:p>
          <a:p>
            <a:pPr algn="ctr">
              <a:spcBef>
                <a:spcPts val="1200"/>
              </a:spcBef>
              <a:defRPr sz="1200">
                <a:solidFill>
                  <a:srgbClr val="1E293B"/>
                </a:solidFill>
                <a:latin typeface="Arial"/>
              </a:defRPr>
            </a:pPr>
            <a:r>
              <a:t>نقطة التحول ومفتاح الانفجار البيعي يكمن بالكامل في سد الفجوة بين الإعلان والمتجر عبر تطبيق التعديلات الخمسة وأدلة الـ SOPs الموضحة في هذا العرض (تطوير الهيرو، كود الخصم الترحيبي، فيد ميتا النظيف، صور الموديلز، ومقاطع المايكرو إنفلونسرز).</a:t>
            </a:r>
          </a:p>
          <a:p>
            <a:pPr algn="ctr">
              <a:spcBef>
                <a:spcPts val="1200"/>
              </a:spcBef>
              <a:defRPr sz="1200">
                <a:solidFill>
                  <a:srgbClr val="1E293B"/>
                </a:solidFill>
                <a:latin typeface="Arial"/>
              </a:defRPr>
            </a:pPr>
            <a:r>
              <a:t>نتمنى لمتجر Clicklock وفريقه الجديد كل التوفيق والنجاح والريادة في قطاع الفخامة الذكية بالسوق السعودي، ويسعدنا دائماً تقديم الدعم والاستشارة الاستراتيجية متى ما دعت الحاجة.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